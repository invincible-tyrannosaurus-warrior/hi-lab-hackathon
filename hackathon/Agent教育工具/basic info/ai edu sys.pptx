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6" r:id="rId5"/>
    <p:sldId id="267" r:id="rId6"/>
    <p:sldId id="262" r:id="rId7"/>
    <p:sldId id="263" r:id="rId8"/>
    <p:sldId id="265" r:id="rId9"/>
    <p:sldId id="269" r:id="rId10"/>
    <p:sldId id="270" r:id="rId11"/>
    <p:sldId id="264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7F7"/>
    <a:srgbClr val="EBFAFF"/>
    <a:srgbClr val="F3F3F3"/>
    <a:srgbClr val="FFF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94660"/>
  </p:normalViewPr>
  <p:slideViewPr>
    <p:cSldViewPr snapToGrid="0">
      <p:cViewPr varScale="1">
        <p:scale>
          <a:sx n="47" d="100"/>
          <a:sy n="47" d="100"/>
        </p:scale>
        <p:origin x="12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1C1F-EDCC-59B1-233E-8685B7C8D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1A7DA-28BF-E1B0-BBBE-04268208B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C1120-5E0B-A9E1-7021-B1EAF8E5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4F322-B089-1D27-F85B-3936D794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1DB4E-E880-4858-CFBC-FE648AE8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98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97B5B-2BAF-DA18-BD98-6143C436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2F24-7C8C-0A6E-8B88-5C65EA1B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7D8B8-B737-CA8F-B936-E956C3B1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83547-B8A9-043F-5C44-D6CF76DE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C30D8-84D0-5EB5-C498-D3C51A86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3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8CE5-7AE4-567B-246A-5F7435AC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00F60-081D-2DC2-5145-C5FFE6759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846AA-7C06-0E84-45BB-1BA61C35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EF833-B0AF-B207-DC86-E8D39562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09A2B-1494-BC1B-E591-6442C86D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75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B973-AEBB-8949-B645-EBE68397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B3D90-A2C7-1A66-836C-0E94F4C00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2EE8D-F4A9-0086-F16F-DFC32D3EC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8708E-5310-27CB-3851-4F7B2E6C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6D7D4-7520-D58B-00F1-ABF90704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72BFB-D55F-7C8A-3DEF-8B4DAD86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36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0795-6377-EAE4-2737-B0966650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C65D1-C537-060F-7440-F33AACE84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17FF1-2A13-6A54-191F-13C3C395B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01A68-6F33-60E9-36CA-2FDE7FCED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64509-EA5D-662B-EE08-E8C7E2B00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C76D1-3E47-C47D-0632-32FEC91F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DE999-4E37-0FDB-06E0-B74B058A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68DF0-3BAE-D2D6-1520-C3B38618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56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5B73-71A2-A958-28A8-1AA16448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78382-4A9F-D10A-3B87-A1121AF9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87514-029B-EBD2-E64D-AB9DCD679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6D7CC-6840-8825-4FC0-C731D07D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9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6C87B-2887-2354-C881-0BD6F237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3B449-AA6B-FCAB-3630-75ECC1D4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32E0F-3BCA-DEBF-DEA8-D3915B73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21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47F8-E1F4-FEDE-FA0C-56983726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A3137-FE28-11E0-D7B3-6FB206E3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D17F6-9FE5-1803-6545-1EA67F2EC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B7921-397A-D573-211E-68B27A14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A2650-E110-5477-9D45-7991C539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1DE0-8321-2E23-11CE-F038BB0E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38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12C9-11CB-43B1-252A-23AB38EC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23858-850B-3AD6-D5C4-A67139D79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D587A-728F-AA0B-3D4D-A597AEACD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22E4-5DEB-63E5-9B11-3A5B15010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0FAF7-5514-8F27-52AC-3F08244A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4EF51-059A-70BD-5CE0-F839FF9F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55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9172-A781-545B-03BB-AB339DA9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9EF05-7C50-7242-AECA-02BBDEC15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690EA-E435-1AC1-99EE-1095C7E4A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F902C-CDED-61DA-42FB-8FD1B1EA1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5068-F35F-BB33-D73F-C3AB30E2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18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2114F8-4D93-9061-04EF-859A11C4C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3B845-CE36-2E1A-E613-21D28F65E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905DF-1660-53B5-63BD-3D2A0E65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CC195-8AE4-3C43-203D-ABF59C8E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48A15-1F90-1711-D0E1-2727A9CC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40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55022-7E07-B72E-AEDD-9B7C09C6A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BD9F7-308F-4ED1-62E5-ED02F3E26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933CA-A5F4-D340-7010-8D40CDF10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CB185-8A3E-4332-A8EF-ED7E25AB827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412C3-25E5-02AD-D6BD-C0D470793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55867-522C-C236-CE5F-A5D9A024E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68C4D-C08B-44B6-AB51-CD479428FA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7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2179-3C90-EB6C-7E42-83AE87822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Human-governed multi-agent educational operating system for scalable AI teaching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6480C-9864-9D5B-A969-14BB69D665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zh-CN" dirty="0"/>
              <a:t>‘</a:t>
            </a:r>
            <a:r>
              <a:rPr lang="zh-CN" altLang="en-US" dirty="0"/>
              <a:t>人为</a:t>
            </a:r>
            <a:r>
              <a:rPr lang="en-GB" altLang="zh-CN" dirty="0"/>
              <a:t>’</a:t>
            </a:r>
            <a:r>
              <a:rPr lang="zh-CN" altLang="en-US" dirty="0"/>
              <a:t>主导下</a:t>
            </a:r>
            <a:r>
              <a:rPr lang="en-GB" altLang="zh-CN" dirty="0"/>
              <a:t>multi-</a:t>
            </a:r>
            <a:r>
              <a:rPr lang="en-US" altLang="zh-CN" dirty="0"/>
              <a:t>Agent</a:t>
            </a:r>
            <a:r>
              <a:rPr lang="zh-CN" altLang="en-US" dirty="0"/>
              <a:t>驱动的</a:t>
            </a:r>
            <a:r>
              <a:rPr lang="en-GB" altLang="zh-CN" dirty="0"/>
              <a:t>educational</a:t>
            </a:r>
            <a:r>
              <a:rPr lang="zh-CN" altLang="en-US" dirty="0"/>
              <a:t> </a:t>
            </a:r>
            <a:r>
              <a:rPr lang="en-GB" altLang="zh-CN" dirty="0"/>
              <a:t>OS</a:t>
            </a:r>
            <a:r>
              <a:rPr lang="zh-CN" altLang="en-US" dirty="0"/>
              <a:t>生态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37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C2C5-2C5A-D192-FD56-58BF4B2C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5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当前教育生态痛点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08108-76D5-633A-625D-26E2F4BB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216"/>
            <a:ext cx="10515600" cy="4818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教学内容层：</a:t>
            </a:r>
            <a:endParaRPr lang="en-GB" altLang="zh-CN" sz="2000" dirty="0"/>
          </a:p>
          <a:p>
            <a:pPr lvl="1"/>
            <a:r>
              <a:rPr lang="en-GB" altLang="zh-CN" sz="2000" dirty="0"/>
              <a:t>Content generation</a:t>
            </a:r>
            <a:r>
              <a:rPr lang="zh-CN" altLang="en-US" sz="2000" dirty="0"/>
              <a:t>效率低下</a:t>
            </a:r>
            <a:r>
              <a:rPr lang="en-GB" altLang="zh-CN" sz="2000" dirty="0"/>
              <a:t>		</a:t>
            </a:r>
            <a:endParaRPr lang="en-US" altLang="zh-CN" sz="2000" dirty="0"/>
          </a:p>
          <a:p>
            <a:pPr lvl="1"/>
            <a:r>
              <a:rPr lang="zh-CN" altLang="en-US" sz="2000" dirty="0"/>
              <a:t>内容时效性差 </a:t>
            </a:r>
            <a:r>
              <a:rPr lang="en-GB" altLang="zh-CN" sz="2000" dirty="0"/>
              <a:t>- </a:t>
            </a:r>
            <a:r>
              <a:rPr lang="en-US" sz="2000" dirty="0"/>
              <a:t>Easily outdated	-(</a:t>
            </a:r>
            <a:r>
              <a:rPr lang="zh-CN" altLang="en-US" sz="2000" dirty="0"/>
              <a:t>挖掘新事物的能力 人 </a:t>
            </a:r>
            <a:r>
              <a:rPr lang="en-US" altLang="zh-CN" sz="2000" dirty="0"/>
              <a:t>&lt; AI</a:t>
            </a:r>
            <a:r>
              <a:rPr lang="en-US" sz="2000" dirty="0"/>
              <a:t>)</a:t>
            </a:r>
            <a:endParaRPr lang="en-GB" sz="2000" dirty="0"/>
          </a:p>
          <a:p>
            <a:pPr marL="0" indent="0">
              <a:buNone/>
            </a:pPr>
            <a:endParaRPr lang="en-GB" altLang="zh-CN" sz="2000" dirty="0"/>
          </a:p>
          <a:p>
            <a:pPr marL="0" indent="0">
              <a:buNone/>
            </a:pPr>
            <a:r>
              <a:rPr lang="zh-CN" altLang="en-US" sz="2000" dirty="0"/>
              <a:t>学生层：</a:t>
            </a:r>
            <a:endParaRPr lang="en-GB" altLang="zh-CN" sz="2000" dirty="0"/>
          </a:p>
          <a:p>
            <a:pPr lvl="1"/>
            <a:r>
              <a:rPr lang="zh-CN" altLang="en-US" sz="2000" dirty="0"/>
              <a:t>无</a:t>
            </a:r>
            <a:r>
              <a:rPr lang="en-GB" altLang="zh-CN" sz="2000" dirty="0"/>
              <a:t>student</a:t>
            </a:r>
            <a:r>
              <a:rPr lang="zh-CN" altLang="en-US" sz="2000" dirty="0"/>
              <a:t>实时</a:t>
            </a:r>
            <a:r>
              <a:rPr lang="en-GB" altLang="zh-CN" sz="2000" dirty="0"/>
              <a:t>status</a:t>
            </a:r>
            <a:r>
              <a:rPr lang="zh-CN" altLang="en-US" sz="2000" dirty="0"/>
              <a:t>监控</a:t>
            </a:r>
            <a:r>
              <a:rPr lang="en-GB" altLang="zh-CN" sz="2000" dirty="0"/>
              <a:t>	-(</a:t>
            </a:r>
            <a:r>
              <a:rPr lang="zh-CN" altLang="en-US" sz="2000" dirty="0"/>
              <a:t>无法发现问题</a:t>
            </a:r>
            <a:r>
              <a:rPr lang="en-GB" altLang="zh-CN" sz="2000" dirty="0"/>
              <a:t>)</a:t>
            </a:r>
            <a:endParaRPr lang="en-US" sz="2000" dirty="0"/>
          </a:p>
          <a:p>
            <a:pPr lvl="1"/>
            <a:r>
              <a:rPr lang="zh-CN" altLang="en-US" sz="2000" dirty="0"/>
              <a:t>无</a:t>
            </a:r>
            <a:r>
              <a:rPr lang="en-GB" sz="2000" dirty="0"/>
              <a:t>evolving feedback loop	-(</a:t>
            </a:r>
            <a:r>
              <a:rPr lang="zh-CN" altLang="en-US" sz="2000" dirty="0"/>
              <a:t>及时发现也无法高效的解决问题</a:t>
            </a:r>
            <a:r>
              <a:rPr lang="en-GB" sz="2000" dirty="0"/>
              <a:t>)</a:t>
            </a:r>
            <a:endParaRPr lang="en-GB" altLang="zh-CN" dirty="0"/>
          </a:p>
          <a:p>
            <a:pPr marL="0" indent="0">
              <a:buNone/>
            </a:pPr>
            <a:endParaRPr lang="en-GB" altLang="zh-CN" sz="2000" dirty="0"/>
          </a:p>
          <a:p>
            <a:pPr marL="0" indent="0">
              <a:buNone/>
            </a:pPr>
            <a:r>
              <a:rPr lang="zh-CN" altLang="en-US" sz="2000" dirty="0"/>
              <a:t>系统层：</a:t>
            </a:r>
            <a:endParaRPr lang="en-GB" altLang="zh-CN" sz="2000" dirty="0"/>
          </a:p>
          <a:p>
            <a:pPr lvl="1"/>
            <a:r>
              <a:rPr lang="zh-CN" altLang="en-US" sz="2000" dirty="0"/>
              <a:t>单点依赖</a:t>
            </a:r>
            <a:r>
              <a:rPr lang="en-US" sz="2000" dirty="0"/>
              <a:t>:  high pressure on professor  </a:t>
            </a:r>
            <a:r>
              <a:rPr lang="en-GB" sz="2000" dirty="0"/>
              <a:t>(</a:t>
            </a:r>
            <a:r>
              <a:rPr lang="zh-CN" altLang="en-US" sz="2000" dirty="0"/>
              <a:t>教授</a:t>
            </a:r>
            <a:r>
              <a:rPr lang="en-GB" altLang="zh-CN" sz="2000" dirty="0"/>
              <a:t>=single agent</a:t>
            </a:r>
            <a:r>
              <a:rPr lang="en-GB" sz="2000" dirty="0"/>
              <a:t>)</a:t>
            </a:r>
          </a:p>
          <a:p>
            <a:pPr lvl="1"/>
            <a:r>
              <a:rPr lang="zh-CN" altLang="en-US" sz="2000" dirty="0"/>
              <a:t>整体纯静态。</a:t>
            </a:r>
            <a:r>
              <a:rPr lang="en-GB" altLang="zh-CN" sz="2000" dirty="0"/>
              <a:t>(</a:t>
            </a:r>
            <a:r>
              <a:rPr lang="zh-CN" altLang="en-US" sz="2000" dirty="0"/>
              <a:t>无‘生态感’</a:t>
            </a:r>
            <a:r>
              <a:rPr lang="en-GB" altLang="zh-CN" sz="2000" dirty="0"/>
              <a:t>)</a:t>
            </a:r>
          </a:p>
          <a:p>
            <a:pPr lvl="1"/>
            <a:r>
              <a:rPr lang="zh-CN" altLang="en-US" sz="2000" dirty="0"/>
              <a:t>内容与考核</a:t>
            </a:r>
            <a:r>
              <a:rPr lang="en-GB" altLang="zh-CN" sz="2000" dirty="0"/>
              <a:t>: </a:t>
            </a:r>
            <a:r>
              <a:rPr lang="zh-CN" altLang="en-US" sz="2000" dirty="0"/>
              <a:t>耦合度低，无强关联，难以促进学生长期投入</a:t>
            </a:r>
            <a:endParaRPr lang="en-GB" sz="2000" dirty="0"/>
          </a:p>
          <a:p>
            <a:pPr marL="0" indent="0">
              <a:buNone/>
            </a:pPr>
            <a:endParaRPr lang="en-GB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91554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38B1F95-C342-0C21-1D39-BE2988DEADDA}"/>
              </a:ext>
            </a:extLst>
          </p:cNvPr>
          <p:cNvSpPr/>
          <p:nvPr/>
        </p:nvSpPr>
        <p:spPr>
          <a:xfrm>
            <a:off x="0" y="0"/>
            <a:ext cx="12192000" cy="8500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C35D-51C4-F093-3F32-CFA96A80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384" y="124559"/>
            <a:ext cx="8008376" cy="58068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The Vision: </a:t>
            </a:r>
            <a:r>
              <a:rPr lang="zh-CN" altLang="en-US" sz="2800" b="1" dirty="0"/>
              <a:t>搭建</a:t>
            </a:r>
            <a:r>
              <a:rPr lang="en-US" altLang="zh-CN" sz="2800" b="1" dirty="0"/>
              <a:t>Agent</a:t>
            </a:r>
            <a:r>
              <a:rPr lang="zh-CN" altLang="en-US" sz="2800" b="1" dirty="0"/>
              <a:t>主导的</a:t>
            </a:r>
            <a:r>
              <a:rPr lang="en-GB" altLang="zh-CN" sz="2800" b="1" dirty="0"/>
              <a:t>self-evolving</a:t>
            </a:r>
            <a:r>
              <a:rPr lang="zh-CN" altLang="en-US" sz="2800" b="1" dirty="0"/>
              <a:t>教育生态</a:t>
            </a:r>
            <a:endParaRPr lang="en-GB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C9A5-FCD6-0370-57D1-C725078C0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306" y="1122611"/>
            <a:ext cx="5201267" cy="718917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+mn-ea"/>
              </a:rPr>
              <a:t>解决‘单点依赖‘问题</a:t>
            </a:r>
            <a:endParaRPr lang="en-GB" altLang="zh-CN" sz="16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latin typeface="+mn-ea"/>
              </a:rPr>
              <a:t>动态知识储备，确保不再出现</a:t>
            </a:r>
            <a:r>
              <a:rPr lang="en-GB" altLang="zh-CN" sz="1600" dirty="0">
                <a:latin typeface="+mn-ea"/>
              </a:rPr>
              <a:t>outdated info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B1E5AE7-EBFA-DF4C-F15D-875246771F5F}"/>
              </a:ext>
            </a:extLst>
          </p:cNvPr>
          <p:cNvGrpSpPr/>
          <p:nvPr/>
        </p:nvGrpSpPr>
        <p:grpSpPr>
          <a:xfrm>
            <a:off x="1527230" y="2460911"/>
            <a:ext cx="9137538" cy="4114417"/>
            <a:chOff x="1545508" y="2490019"/>
            <a:chExt cx="9137538" cy="411441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9FE4BC9-804A-7E41-9739-D78B04D8EB07}"/>
                </a:ext>
              </a:extLst>
            </p:cNvPr>
            <p:cNvGrpSpPr/>
            <p:nvPr/>
          </p:nvGrpSpPr>
          <p:grpSpPr>
            <a:xfrm>
              <a:off x="1545508" y="2490019"/>
              <a:ext cx="9100983" cy="4114417"/>
              <a:chOff x="1179871" y="2242908"/>
              <a:chExt cx="9100983" cy="411441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7B4DFF9-03CE-CD00-B7EE-08FB345E8634}"/>
                  </a:ext>
                </a:extLst>
              </p:cNvPr>
              <p:cNvSpPr/>
              <p:nvPr/>
            </p:nvSpPr>
            <p:spPr>
              <a:xfrm>
                <a:off x="1179871" y="2242908"/>
                <a:ext cx="4493342" cy="199594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B34E87-5BA1-3AC6-F0D3-6EC233BB001B}"/>
                  </a:ext>
                </a:extLst>
              </p:cNvPr>
              <p:cNvSpPr/>
              <p:nvPr/>
            </p:nvSpPr>
            <p:spPr>
              <a:xfrm>
                <a:off x="5787512" y="2242908"/>
                <a:ext cx="4493342" cy="19959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BB9550C-6E7F-6D04-BAF8-2E8F11428373}"/>
                  </a:ext>
                </a:extLst>
              </p:cNvPr>
              <p:cNvSpPr/>
              <p:nvPr/>
            </p:nvSpPr>
            <p:spPr>
              <a:xfrm>
                <a:off x="1179871" y="4361377"/>
                <a:ext cx="4493342" cy="199594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15B3C92-9132-DE3E-E49F-F7D8864AA7EF}"/>
                  </a:ext>
                </a:extLst>
              </p:cNvPr>
              <p:cNvSpPr/>
              <p:nvPr/>
            </p:nvSpPr>
            <p:spPr>
              <a:xfrm>
                <a:off x="5787512" y="4361377"/>
                <a:ext cx="4493342" cy="199594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DEF9CF-10B0-BDFF-99CF-5AE8A23112F8}"/>
                </a:ext>
              </a:extLst>
            </p:cNvPr>
            <p:cNvSpPr txBox="1"/>
            <p:nvPr/>
          </p:nvSpPr>
          <p:spPr>
            <a:xfrm>
              <a:off x="2447001" y="2809236"/>
              <a:ext cx="34216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Human-governed autonomy</a:t>
              </a:r>
              <a:endParaRPr lang="en-GB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EB8C7E-AB99-818D-369C-0B212FD74953}"/>
                </a:ext>
              </a:extLst>
            </p:cNvPr>
            <p:cNvSpPr txBox="1"/>
            <p:nvPr/>
          </p:nvSpPr>
          <p:spPr>
            <a:xfrm>
              <a:off x="2447001" y="3474741"/>
              <a:ext cx="369508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Agents execute by default; humans retain final authority.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BFA84A-0769-02DB-6DA5-281B187F3C72}"/>
                </a:ext>
              </a:extLst>
            </p:cNvPr>
            <p:cNvSpPr txBox="1"/>
            <p:nvPr/>
          </p:nvSpPr>
          <p:spPr>
            <a:xfrm>
              <a:off x="7031907" y="2809236"/>
              <a:ext cx="34216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b="1" dirty="0">
                  <a:latin typeface="Arial" panose="020B0604020202020204" pitchFamily="34" charset="0"/>
                </a:rPr>
                <a:t>Knowledge-first architecture</a:t>
              </a:r>
              <a:endParaRPr lang="en-GB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8C4577-2801-B4FE-3B8D-03B3B4B965F1}"/>
                </a:ext>
              </a:extLst>
            </p:cNvPr>
            <p:cNvSpPr txBox="1"/>
            <p:nvPr/>
          </p:nvSpPr>
          <p:spPr>
            <a:xfrm>
              <a:off x="7031907" y="3474740"/>
              <a:ext cx="342162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Arial" panose="020B0604020202020204" pitchFamily="34" charset="0"/>
                </a:rPr>
                <a:t>All major actions are grounded in structured knowledge.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AC363E-49F7-62C5-559A-CCB6B9931906}"/>
                </a:ext>
              </a:extLst>
            </p:cNvPr>
            <p:cNvSpPr txBox="1"/>
            <p:nvPr/>
          </p:nvSpPr>
          <p:spPr>
            <a:xfrm>
              <a:off x="2483556" y="4874733"/>
              <a:ext cx="34216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b="1" dirty="0">
                  <a:latin typeface="Arial" panose="020B0604020202020204" pitchFamily="34" charset="0"/>
                </a:rPr>
                <a:t>Closed-loop adaptation</a:t>
              </a:r>
              <a:endParaRPr lang="en-GB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760CB5-ADE5-1E80-11C1-DA81AFE5F8E2}"/>
                </a:ext>
              </a:extLst>
            </p:cNvPr>
            <p:cNvSpPr txBox="1"/>
            <p:nvPr/>
          </p:nvSpPr>
          <p:spPr>
            <a:xfrm>
              <a:off x="2486028" y="5456309"/>
              <a:ext cx="369508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Arial" panose="020B0604020202020204" pitchFamily="34" charset="0"/>
                </a:rPr>
                <a:t>Student evidence can trigger remediation, reteaching, and revision proposals.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79BF62-F2A8-FF21-751F-BC7D223CE1F1}"/>
                </a:ext>
              </a:extLst>
            </p:cNvPr>
            <p:cNvSpPr txBox="1"/>
            <p:nvPr/>
          </p:nvSpPr>
          <p:spPr>
            <a:xfrm>
              <a:off x="6987963" y="4866409"/>
              <a:ext cx="36950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b="1" dirty="0">
                  <a:latin typeface="Arial" panose="020B0604020202020204" pitchFamily="34" charset="0"/>
                </a:rPr>
                <a:t>Traceable &amp; bounded control</a:t>
              </a:r>
              <a:endParaRPr lang="en-GB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4E1B8D-E23B-6B60-96CC-BD8531EA6560}"/>
                </a:ext>
              </a:extLst>
            </p:cNvPr>
            <p:cNvSpPr txBox="1"/>
            <p:nvPr/>
          </p:nvSpPr>
          <p:spPr>
            <a:xfrm>
              <a:off x="6987963" y="5481667"/>
              <a:ext cx="369508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latin typeface="Arial" panose="020B0604020202020204" pitchFamily="34" charset="0"/>
                </a:rPr>
                <a:t>Permissions, approvals, and revisions are logged and versioned. </a:t>
              </a:r>
            </a:p>
          </p:txBody>
        </p:sp>
        <p:pic>
          <p:nvPicPr>
            <p:cNvPr id="27" name="Graphic 26" descr="Classroom outline">
              <a:extLst>
                <a:ext uri="{FF2B5EF4-FFF2-40B4-BE49-F238E27FC236}">
                  <a16:creationId xmlns:a16="http://schemas.microsoft.com/office/drawing/2014/main" id="{B071E2EC-9B28-21D1-D2B9-AAE42DCE3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52981" y="2704041"/>
              <a:ext cx="579721" cy="579721"/>
            </a:xfrm>
            <a:prstGeom prst="rect">
              <a:avLst/>
            </a:prstGeom>
          </p:spPr>
        </p:pic>
        <p:pic>
          <p:nvPicPr>
            <p:cNvPr id="29" name="Graphic 28" descr="Books outline">
              <a:extLst>
                <a:ext uri="{FF2B5EF4-FFF2-40B4-BE49-F238E27FC236}">
                  <a16:creationId xmlns:a16="http://schemas.microsoft.com/office/drawing/2014/main" id="{1FB36396-412F-C6FF-40F1-79DCD5E19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45994" y="2745650"/>
              <a:ext cx="538112" cy="538112"/>
            </a:xfrm>
            <a:prstGeom prst="rect">
              <a:avLst/>
            </a:prstGeom>
          </p:spPr>
        </p:pic>
        <p:pic>
          <p:nvPicPr>
            <p:cNvPr id="33" name="Graphic 32" descr="Arrow circle outline">
              <a:extLst>
                <a:ext uri="{FF2B5EF4-FFF2-40B4-BE49-F238E27FC236}">
                  <a16:creationId xmlns:a16="http://schemas.microsoft.com/office/drawing/2014/main" id="{80ADA88C-F98C-3861-A334-D3B35DD3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33692" y="4764244"/>
              <a:ext cx="759209" cy="759209"/>
            </a:xfrm>
            <a:prstGeom prst="rect">
              <a:avLst/>
            </a:prstGeom>
          </p:spPr>
        </p:pic>
        <p:pic>
          <p:nvPicPr>
            <p:cNvPr id="36" name="Graphic 35" descr="Gavel outline">
              <a:extLst>
                <a:ext uri="{FF2B5EF4-FFF2-40B4-BE49-F238E27FC236}">
                  <a16:creationId xmlns:a16="http://schemas.microsoft.com/office/drawing/2014/main" id="{FD19B316-074A-2D8A-BB45-ECCA430F4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341631" y="4717490"/>
              <a:ext cx="646332" cy="646332"/>
            </a:xfrm>
            <a:prstGeom prst="rect">
              <a:avLst/>
            </a:prstGeom>
          </p:spPr>
        </p:pic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4ABDAAD-FBF6-3035-9BEB-62AAB6C16332}"/>
              </a:ext>
            </a:extLst>
          </p:cNvPr>
          <p:cNvSpPr txBox="1">
            <a:spLocks/>
          </p:cNvSpPr>
          <p:nvPr/>
        </p:nvSpPr>
        <p:spPr>
          <a:xfrm>
            <a:off x="6232898" y="1109281"/>
            <a:ext cx="5201267" cy="718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zh-CN" altLang="en-US" sz="1600" dirty="0">
                <a:latin typeface="+mn-ea"/>
              </a:rPr>
              <a:t>大幅提升教学内容生成的效率</a:t>
            </a:r>
            <a:endParaRPr lang="en-GB" altLang="zh-CN" sz="1600" dirty="0">
              <a:latin typeface="+mn-ea"/>
            </a:endParaRPr>
          </a:p>
          <a:p>
            <a:pPr marL="285750" indent="-285750"/>
            <a:r>
              <a:rPr lang="zh-CN" altLang="en-US" sz="1600" dirty="0">
                <a:latin typeface="+mn-ea"/>
              </a:rPr>
              <a:t>建立对学生学习状态</a:t>
            </a:r>
            <a:r>
              <a:rPr lang="en-GB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收益的实际监控</a:t>
            </a:r>
            <a:endParaRPr lang="en-GB" altLang="zh-CN" sz="1600" dirty="0">
              <a:latin typeface="+mn-ea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FB881E2B-8430-6EB1-C0B2-02280EDC47A6}"/>
              </a:ext>
            </a:extLst>
          </p:cNvPr>
          <p:cNvSpPr txBox="1">
            <a:spLocks/>
          </p:cNvSpPr>
          <p:nvPr/>
        </p:nvSpPr>
        <p:spPr>
          <a:xfrm>
            <a:off x="1219971" y="2100784"/>
            <a:ext cx="2188905" cy="360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zh-CN" sz="1600" b="1" dirty="0">
                <a:solidFill>
                  <a:schemeClr val="bg2">
                    <a:lumMod val="75000"/>
                  </a:schemeClr>
                </a:solidFill>
              </a:rPr>
              <a:t>Core </a:t>
            </a:r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</a:rPr>
              <a:t>Design Logic</a:t>
            </a:r>
            <a:endParaRPr lang="en-GB" sz="16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210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9B48590-1D33-AA13-D55A-ED7B2978AF11}"/>
              </a:ext>
            </a:extLst>
          </p:cNvPr>
          <p:cNvSpPr/>
          <p:nvPr/>
        </p:nvSpPr>
        <p:spPr>
          <a:xfrm>
            <a:off x="363792" y="4776720"/>
            <a:ext cx="5384965" cy="15599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9991DA-146D-8B6D-183F-625129218EB5}"/>
              </a:ext>
            </a:extLst>
          </p:cNvPr>
          <p:cNvSpPr/>
          <p:nvPr/>
        </p:nvSpPr>
        <p:spPr>
          <a:xfrm>
            <a:off x="6085025" y="1138815"/>
            <a:ext cx="5384966" cy="5197847"/>
          </a:xfrm>
          <a:prstGeom prst="rect">
            <a:avLst/>
          </a:prstGeom>
          <a:solidFill>
            <a:srgbClr val="F9E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A26DD-D4A1-3BAC-0348-C2AD20411FC3}"/>
              </a:ext>
            </a:extLst>
          </p:cNvPr>
          <p:cNvSpPr/>
          <p:nvPr/>
        </p:nvSpPr>
        <p:spPr>
          <a:xfrm>
            <a:off x="363793" y="1138815"/>
            <a:ext cx="5384966" cy="35789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0F00-E309-1BF7-5C11-FE1C2038C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2742" y="1288951"/>
            <a:ext cx="2761386" cy="401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1" dirty="0"/>
              <a:t>当前的‘</a:t>
            </a:r>
            <a:r>
              <a:rPr lang="en-GB" altLang="zh-CN" sz="1800" b="1" dirty="0"/>
              <a:t>linear workflow</a:t>
            </a:r>
            <a:r>
              <a:rPr lang="zh-CN" altLang="en-US" sz="1800" b="1" dirty="0"/>
              <a:t>’</a:t>
            </a:r>
            <a:endParaRPr lang="en-GB" altLang="zh-C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1BECF-86FF-8E12-C04E-363EA69F6DFC}"/>
              </a:ext>
            </a:extLst>
          </p:cNvPr>
          <p:cNvSpPr txBox="1"/>
          <p:nvPr/>
        </p:nvSpPr>
        <p:spPr>
          <a:xfrm>
            <a:off x="6168927" y="1271294"/>
            <a:ext cx="244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b="1" dirty="0"/>
              <a:t>Proposed workflow</a:t>
            </a:r>
            <a:r>
              <a:rPr lang="zh-CN" altLang="en-US" b="1" dirty="0"/>
              <a:t>：</a:t>
            </a:r>
            <a:endParaRPr lang="en-GB" altLang="zh-CN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E17F0B-8AAB-C303-3C80-7F80976A1217}"/>
              </a:ext>
            </a:extLst>
          </p:cNvPr>
          <p:cNvSpPr/>
          <p:nvPr/>
        </p:nvSpPr>
        <p:spPr>
          <a:xfrm flipV="1">
            <a:off x="445728" y="668236"/>
            <a:ext cx="9686741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75BF3-17BB-2DCD-6C4C-BE8C97E8BEBC}"/>
              </a:ext>
            </a:extLst>
          </p:cNvPr>
          <p:cNvSpPr txBox="1"/>
          <p:nvPr/>
        </p:nvSpPr>
        <p:spPr>
          <a:xfrm>
            <a:off x="363793" y="177204"/>
            <a:ext cx="10343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From Linear Delivery to an Evidence-Driven Closed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AE827-7038-C6FE-10C3-5354FB653BBF}"/>
              </a:ext>
            </a:extLst>
          </p:cNvPr>
          <p:cNvSpPr txBox="1"/>
          <p:nvPr/>
        </p:nvSpPr>
        <p:spPr>
          <a:xfrm>
            <a:off x="581411" y="1618321"/>
            <a:ext cx="41754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/>
              <a:t>Syllabus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/>
              <a:t>Content Generation	</a:t>
            </a:r>
            <a:r>
              <a:rPr lang="en-US" altLang="zh-CN" sz="1600" dirty="0"/>
              <a:t>coursework</a:t>
            </a:r>
            <a:endParaRPr lang="en-GB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Student Learning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AF567C-9CE9-E911-DC2D-01BD5FC2A2D8}"/>
              </a:ext>
            </a:extLst>
          </p:cNvPr>
          <p:cNvCxnSpPr>
            <a:cxnSpLocks/>
          </p:cNvCxnSpPr>
          <p:nvPr/>
        </p:nvCxnSpPr>
        <p:spPr>
          <a:xfrm>
            <a:off x="1067587" y="2006767"/>
            <a:ext cx="0" cy="3897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CCEEBA-E698-CF93-E2C9-274ED89F3938}"/>
              </a:ext>
            </a:extLst>
          </p:cNvPr>
          <p:cNvCxnSpPr>
            <a:cxnSpLocks/>
          </p:cNvCxnSpPr>
          <p:nvPr/>
        </p:nvCxnSpPr>
        <p:spPr>
          <a:xfrm>
            <a:off x="1067587" y="2864342"/>
            <a:ext cx="0" cy="3897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7801F1-5F35-79EF-AFE0-A52A5501E713}"/>
              </a:ext>
            </a:extLst>
          </p:cNvPr>
          <p:cNvCxnSpPr>
            <a:cxnSpLocks/>
          </p:cNvCxnSpPr>
          <p:nvPr/>
        </p:nvCxnSpPr>
        <p:spPr>
          <a:xfrm>
            <a:off x="2609875" y="3478373"/>
            <a:ext cx="954909" cy="0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AAE782-0D00-8054-AA5F-D0DA5C2D5F69}"/>
              </a:ext>
            </a:extLst>
          </p:cNvPr>
          <p:cNvCxnSpPr>
            <a:cxnSpLocks/>
          </p:cNvCxnSpPr>
          <p:nvPr/>
        </p:nvCxnSpPr>
        <p:spPr>
          <a:xfrm>
            <a:off x="3963187" y="3746413"/>
            <a:ext cx="0" cy="3897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F483B5-DAC4-E2FC-CD8D-25BF6A36D8A6}"/>
              </a:ext>
            </a:extLst>
          </p:cNvPr>
          <p:cNvCxnSpPr>
            <a:cxnSpLocks/>
          </p:cNvCxnSpPr>
          <p:nvPr/>
        </p:nvCxnSpPr>
        <p:spPr>
          <a:xfrm>
            <a:off x="2847619" y="2650982"/>
            <a:ext cx="430653" cy="0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DFF9B3-4EE5-D2B9-89B7-E3982C2C770A}"/>
              </a:ext>
            </a:extLst>
          </p:cNvPr>
          <p:cNvCxnSpPr>
            <a:cxnSpLocks/>
          </p:cNvCxnSpPr>
          <p:nvPr/>
        </p:nvCxnSpPr>
        <p:spPr>
          <a:xfrm>
            <a:off x="3963187" y="2788818"/>
            <a:ext cx="0" cy="510574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671C40B-22A2-B3BE-63DE-2AD4D47DECEF}"/>
              </a:ext>
            </a:extLst>
          </p:cNvPr>
          <p:cNvSpPr txBox="1"/>
          <p:nvPr/>
        </p:nvSpPr>
        <p:spPr>
          <a:xfrm>
            <a:off x="3621690" y="3299392"/>
            <a:ext cx="10872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Exam  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Marking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786F45-1382-62D9-1C97-1A7D1C21AF00}"/>
              </a:ext>
            </a:extLst>
          </p:cNvPr>
          <p:cNvSpPr txBox="1"/>
          <p:nvPr/>
        </p:nvSpPr>
        <p:spPr>
          <a:xfrm>
            <a:off x="473388" y="5228300"/>
            <a:ext cx="52171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建立学生值得长期</a:t>
            </a:r>
            <a:r>
              <a:rPr lang="en-GB" altLang="zh-CN" sz="1400" dirty="0"/>
              <a:t>‘soak in’</a:t>
            </a:r>
            <a:r>
              <a:rPr lang="zh-CN" altLang="en-US" sz="1400" dirty="0"/>
              <a:t>的生态 </a:t>
            </a:r>
            <a:r>
              <a:rPr lang="en-GB" altLang="zh-CN" sz="1400" dirty="0"/>
              <a:t>(</a:t>
            </a:r>
            <a:r>
              <a:rPr lang="zh-CN" altLang="en-US" sz="1400" dirty="0"/>
              <a:t>强</a:t>
            </a:r>
            <a:r>
              <a:rPr lang="en-GB" altLang="zh-CN" sz="1400" dirty="0"/>
              <a:t>&amp;</a:t>
            </a:r>
            <a:r>
              <a:rPr lang="zh-CN" altLang="en-US" sz="1400" dirty="0"/>
              <a:t>及时交互</a:t>
            </a:r>
            <a:r>
              <a:rPr lang="en-GB" altLang="zh-C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抓取</a:t>
            </a:r>
            <a:r>
              <a:rPr lang="en-GB" sz="1400" dirty="0"/>
              <a:t>Student Performance Evidence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根据</a:t>
            </a:r>
            <a:r>
              <a:rPr lang="en-GB" altLang="zh-CN" sz="1400" dirty="0"/>
              <a:t>evidence</a:t>
            </a:r>
            <a:r>
              <a:rPr lang="zh-CN" altLang="en-US" sz="1400" dirty="0"/>
              <a:t>进行整改</a:t>
            </a:r>
            <a:endParaRPr lang="en-GB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接轨外部知识 </a:t>
            </a:r>
            <a:endParaRPr lang="en-GB" sz="1400" dirty="0"/>
          </a:p>
          <a:p>
            <a:endParaRPr lang="en-GB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DFEEE7-FEFD-B520-46FA-C1820F8E2C86}"/>
              </a:ext>
            </a:extLst>
          </p:cNvPr>
          <p:cNvSpPr txBox="1"/>
          <p:nvPr/>
        </p:nvSpPr>
        <p:spPr>
          <a:xfrm>
            <a:off x="554670" y="4877753"/>
            <a:ext cx="28016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altLang="zh-CN" sz="1600" b="1" dirty="0"/>
              <a:t>Pro</a:t>
            </a:r>
            <a:r>
              <a:rPr lang="en-US" altLang="zh-CN" sz="1600" b="1" dirty="0"/>
              <a:t>posed </a:t>
            </a:r>
            <a:r>
              <a:rPr lang="en-GB" altLang="zh-CN" sz="1600" b="1" dirty="0"/>
              <a:t>improvements</a:t>
            </a:r>
            <a:r>
              <a:rPr lang="zh-CN" altLang="en-US" sz="1600" b="1" dirty="0"/>
              <a:t>：</a:t>
            </a:r>
            <a:endParaRPr lang="en-US" sz="1600" b="1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36A90E08-33FB-04E8-52E3-8745CADC83FF}"/>
              </a:ext>
            </a:extLst>
          </p:cNvPr>
          <p:cNvSpPr/>
          <p:nvPr/>
        </p:nvSpPr>
        <p:spPr>
          <a:xfrm>
            <a:off x="2876670" y="4625727"/>
            <a:ext cx="359208" cy="222529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1C9227B6-CB81-E9FE-CBE6-29DA7D9E6C40}"/>
              </a:ext>
            </a:extLst>
          </p:cNvPr>
          <p:cNvSpPr/>
          <p:nvPr/>
        </p:nvSpPr>
        <p:spPr>
          <a:xfrm rot="15124583">
            <a:off x="5755259" y="5496682"/>
            <a:ext cx="359208" cy="222529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6E7A30-8C17-3310-987C-BB1EB2A23053}"/>
              </a:ext>
            </a:extLst>
          </p:cNvPr>
          <p:cNvSpPr txBox="1"/>
          <p:nvPr/>
        </p:nvSpPr>
        <p:spPr>
          <a:xfrm>
            <a:off x="8698550" y="2695389"/>
            <a:ext cx="220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Content Generation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467A3B-203F-C7C1-0C52-9D922C353085}"/>
              </a:ext>
            </a:extLst>
          </p:cNvPr>
          <p:cNvSpPr txBox="1"/>
          <p:nvPr/>
        </p:nvSpPr>
        <p:spPr>
          <a:xfrm>
            <a:off x="7499437" y="3612250"/>
            <a:ext cx="1907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Signal Collection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C45C48-DAF8-639C-E535-F6BC0C882D33}"/>
              </a:ext>
            </a:extLst>
          </p:cNvPr>
          <p:cNvSpPr txBox="1"/>
          <p:nvPr/>
        </p:nvSpPr>
        <p:spPr>
          <a:xfrm>
            <a:off x="9725241" y="3489581"/>
            <a:ext cx="1426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Analytics &amp; Adaptation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A7E95F-D775-7F8D-EA70-098568B32B82}"/>
              </a:ext>
            </a:extLst>
          </p:cNvPr>
          <p:cNvSpPr txBox="1"/>
          <p:nvPr/>
        </p:nvSpPr>
        <p:spPr>
          <a:xfrm>
            <a:off x="6432267" y="5426797"/>
            <a:ext cx="4476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The system no longer ends at delivery; </a:t>
            </a:r>
          </a:p>
          <a:p>
            <a:r>
              <a:rPr lang="en-GB" sz="1600" dirty="0"/>
              <a:t>learner evidence becomes an operational input.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DB408A-2EFC-B4D6-9898-A92714BF7136}"/>
              </a:ext>
            </a:extLst>
          </p:cNvPr>
          <p:cNvSpPr txBox="1"/>
          <p:nvPr/>
        </p:nvSpPr>
        <p:spPr>
          <a:xfrm>
            <a:off x="6450342" y="1897927"/>
            <a:ext cx="796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Intake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0B893C-D94F-A0C5-19E7-70A6D2EB1199}"/>
              </a:ext>
            </a:extLst>
          </p:cNvPr>
          <p:cNvSpPr txBox="1"/>
          <p:nvPr/>
        </p:nvSpPr>
        <p:spPr>
          <a:xfrm>
            <a:off x="7886214" y="1914390"/>
            <a:ext cx="2983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Governed Knowledge Setup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AF7911-3627-E61B-610B-4753F50EA98A}"/>
              </a:ext>
            </a:extLst>
          </p:cNvPr>
          <p:cNvSpPr txBox="1"/>
          <p:nvPr/>
        </p:nvSpPr>
        <p:spPr>
          <a:xfrm>
            <a:off x="6312338" y="2683641"/>
            <a:ext cx="1868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Student Learning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6C1F8F9-7D4C-97EB-5E49-67661BC828EE}"/>
              </a:ext>
            </a:extLst>
          </p:cNvPr>
          <p:cNvCxnSpPr>
            <a:cxnSpLocks/>
          </p:cNvCxnSpPr>
          <p:nvPr/>
        </p:nvCxnSpPr>
        <p:spPr>
          <a:xfrm>
            <a:off x="7298980" y="2102734"/>
            <a:ext cx="587234" cy="0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B52BDD-F7D6-3392-459D-75F1D32A749E}"/>
              </a:ext>
            </a:extLst>
          </p:cNvPr>
          <p:cNvCxnSpPr>
            <a:cxnSpLocks/>
          </p:cNvCxnSpPr>
          <p:nvPr/>
        </p:nvCxnSpPr>
        <p:spPr>
          <a:xfrm>
            <a:off x="9799654" y="2283722"/>
            <a:ext cx="0" cy="354966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C607B61-80F4-C1B1-AF5D-D5F7D0A1A279}"/>
              </a:ext>
            </a:extLst>
          </p:cNvPr>
          <p:cNvCxnSpPr>
            <a:cxnSpLocks/>
          </p:cNvCxnSpPr>
          <p:nvPr/>
        </p:nvCxnSpPr>
        <p:spPr>
          <a:xfrm flipH="1">
            <a:off x="8231224" y="2879760"/>
            <a:ext cx="385220" cy="0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C19083A-22FD-28C2-F082-2676EA9A44C6}"/>
              </a:ext>
            </a:extLst>
          </p:cNvPr>
          <p:cNvCxnSpPr>
            <a:cxnSpLocks/>
          </p:cNvCxnSpPr>
          <p:nvPr/>
        </p:nvCxnSpPr>
        <p:spPr>
          <a:xfrm flipH="1">
            <a:off x="7886214" y="3111823"/>
            <a:ext cx="1124" cy="488843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1705BA4-0248-5560-9548-4AF264B1BE05}"/>
              </a:ext>
            </a:extLst>
          </p:cNvPr>
          <p:cNvCxnSpPr>
            <a:cxnSpLocks/>
          </p:cNvCxnSpPr>
          <p:nvPr/>
        </p:nvCxnSpPr>
        <p:spPr>
          <a:xfrm>
            <a:off x="9352853" y="3796916"/>
            <a:ext cx="390795" cy="0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9F38BE38-5478-3D8C-B06B-4994EBA47290}"/>
              </a:ext>
            </a:extLst>
          </p:cNvPr>
          <p:cNvCxnSpPr>
            <a:cxnSpLocks/>
            <a:stCxn id="46" idx="3"/>
            <a:endCxn id="52" idx="3"/>
          </p:cNvCxnSpPr>
          <p:nvPr/>
        </p:nvCxnSpPr>
        <p:spPr>
          <a:xfrm flipH="1" flipV="1">
            <a:off x="10869398" y="2099056"/>
            <a:ext cx="282734" cy="1713691"/>
          </a:xfrm>
          <a:prstGeom prst="curvedConnector3">
            <a:avLst>
              <a:gd name="adj1" fmla="val -8085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81F72BE-EF36-89BA-E02D-5500455B4AF7}"/>
              </a:ext>
            </a:extLst>
          </p:cNvPr>
          <p:cNvSpPr txBox="1"/>
          <p:nvPr/>
        </p:nvSpPr>
        <p:spPr>
          <a:xfrm>
            <a:off x="6450698" y="3637558"/>
            <a:ext cx="78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Exam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692B4C-4A95-22C1-D65B-3FDDA30C97BC}"/>
              </a:ext>
            </a:extLst>
          </p:cNvPr>
          <p:cNvSpPr txBox="1"/>
          <p:nvPr/>
        </p:nvSpPr>
        <p:spPr>
          <a:xfrm>
            <a:off x="7507391" y="4254893"/>
            <a:ext cx="1005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Marking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FDCF500-BF13-38C7-8328-464949088F0F}"/>
              </a:ext>
            </a:extLst>
          </p:cNvPr>
          <p:cNvCxnSpPr>
            <a:cxnSpLocks/>
          </p:cNvCxnSpPr>
          <p:nvPr/>
        </p:nvCxnSpPr>
        <p:spPr>
          <a:xfrm flipH="1">
            <a:off x="6798175" y="3134932"/>
            <a:ext cx="1124" cy="458405"/>
          </a:xfrm>
          <a:prstGeom prst="straightConnector1">
            <a:avLst/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1F50133-8B3F-623A-8D88-481A260FC349}"/>
              </a:ext>
            </a:extLst>
          </p:cNvPr>
          <p:cNvCxnSpPr>
            <a:cxnSpLocks/>
          </p:cNvCxnSpPr>
          <p:nvPr/>
        </p:nvCxnSpPr>
        <p:spPr>
          <a:xfrm>
            <a:off x="6798175" y="4067655"/>
            <a:ext cx="679631" cy="374477"/>
          </a:xfrm>
          <a:prstGeom prst="bentConnector3">
            <a:avLst>
              <a:gd name="adj1" fmla="val 81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51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4A1EDC-8F67-8581-6510-3CE473E146E1}"/>
              </a:ext>
            </a:extLst>
          </p:cNvPr>
          <p:cNvSpPr/>
          <p:nvPr/>
        </p:nvSpPr>
        <p:spPr>
          <a:xfrm>
            <a:off x="3687097" y="412955"/>
            <a:ext cx="6325254" cy="6191902"/>
          </a:xfrm>
          <a:prstGeom prst="round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D10482-1267-D2AB-5B75-7BD484B1B556}"/>
              </a:ext>
            </a:extLst>
          </p:cNvPr>
          <p:cNvSpPr/>
          <p:nvPr/>
        </p:nvSpPr>
        <p:spPr>
          <a:xfrm>
            <a:off x="507282" y="690879"/>
            <a:ext cx="2169160" cy="14020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BCA95-EC2D-C4BE-83B4-91D38E165810}"/>
              </a:ext>
            </a:extLst>
          </p:cNvPr>
          <p:cNvSpPr/>
          <p:nvPr/>
        </p:nvSpPr>
        <p:spPr>
          <a:xfrm>
            <a:off x="2306320" y="2477587"/>
            <a:ext cx="3721141" cy="1308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 descr="Safe outline">
            <a:extLst>
              <a:ext uri="{FF2B5EF4-FFF2-40B4-BE49-F238E27FC236}">
                <a16:creationId xmlns:a16="http://schemas.microsoft.com/office/drawing/2014/main" id="{80631CF0-E7B2-DB11-1BC5-68D0A5B8F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968" y="2477587"/>
            <a:ext cx="842151" cy="842151"/>
          </a:xfrm>
          <a:prstGeom prst="rect">
            <a:avLst/>
          </a:prstGeom>
        </p:spPr>
      </p:pic>
      <p:pic>
        <p:nvPicPr>
          <p:cNvPr id="7" name="Graphic 6" descr="Gavel outline">
            <a:extLst>
              <a:ext uri="{FF2B5EF4-FFF2-40B4-BE49-F238E27FC236}">
                <a16:creationId xmlns:a16="http://schemas.microsoft.com/office/drawing/2014/main" id="{8A43B361-9101-2C12-5A63-40652F1C0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0462" y="796129"/>
            <a:ext cx="629867" cy="6298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685C42-7C9E-704F-DC76-F3EB2614B699}"/>
              </a:ext>
            </a:extLst>
          </p:cNvPr>
          <p:cNvSpPr txBox="1"/>
          <p:nvPr/>
        </p:nvSpPr>
        <p:spPr>
          <a:xfrm>
            <a:off x="3373119" y="2713996"/>
            <a:ext cx="926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知识库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E8D742-BD0A-DE36-889B-1C9A491174F7}"/>
              </a:ext>
            </a:extLst>
          </p:cNvPr>
          <p:cNvSpPr txBox="1"/>
          <p:nvPr/>
        </p:nvSpPr>
        <p:spPr>
          <a:xfrm>
            <a:off x="2445979" y="3319738"/>
            <a:ext cx="35814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静态知识，动态新闻，学生表现</a:t>
            </a:r>
            <a:r>
              <a:rPr lang="en-GB" altLang="zh-CN" sz="1600" dirty="0"/>
              <a:t>(</a:t>
            </a:r>
            <a:r>
              <a:rPr lang="zh-CN" altLang="en-US" sz="1600" dirty="0"/>
              <a:t>整体</a:t>
            </a:r>
            <a:r>
              <a:rPr lang="en-GB" altLang="zh-CN" sz="1600" dirty="0"/>
              <a:t>)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5B7222-07AE-9A57-EC31-C7A99CA4BD48}"/>
              </a:ext>
            </a:extLst>
          </p:cNvPr>
          <p:cNvSpPr txBox="1"/>
          <p:nvPr/>
        </p:nvSpPr>
        <p:spPr>
          <a:xfrm>
            <a:off x="551732" y="762349"/>
            <a:ext cx="1224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规则制定</a:t>
            </a: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949967-956A-3FE2-DB5A-99C3834933F6}"/>
              </a:ext>
            </a:extLst>
          </p:cNvPr>
          <p:cNvSpPr txBox="1"/>
          <p:nvPr/>
        </p:nvSpPr>
        <p:spPr>
          <a:xfrm>
            <a:off x="620286" y="1253012"/>
            <a:ext cx="1437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限制边界</a:t>
            </a:r>
            <a:endParaRPr lang="en-GB" altLang="zh-CN" sz="1400" dirty="0"/>
          </a:p>
          <a:p>
            <a:r>
              <a:rPr lang="zh-CN" altLang="en-US" sz="1400" dirty="0"/>
              <a:t>设置长期目标</a:t>
            </a:r>
            <a:endParaRPr lang="en-GB" altLang="zh-CN" sz="1400" dirty="0"/>
          </a:p>
          <a:p>
            <a:r>
              <a:rPr lang="zh-CN" altLang="en-US" sz="1400" dirty="0"/>
              <a:t>拟定生态预期</a:t>
            </a:r>
            <a:endParaRPr lang="en-GB" sz="1400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20AFED3-8125-18CF-08DE-20515C68FB45}"/>
              </a:ext>
            </a:extLst>
          </p:cNvPr>
          <p:cNvSpPr/>
          <p:nvPr/>
        </p:nvSpPr>
        <p:spPr>
          <a:xfrm rot="10800000">
            <a:off x="2816750" y="3896567"/>
            <a:ext cx="110956" cy="54384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B57F27-F9C8-B7E5-963E-064397611E21}"/>
              </a:ext>
            </a:extLst>
          </p:cNvPr>
          <p:cNvSpPr/>
          <p:nvPr/>
        </p:nvSpPr>
        <p:spPr>
          <a:xfrm>
            <a:off x="984909" y="4627838"/>
            <a:ext cx="2285675" cy="10769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" name="Graphic 19" descr="Wrench outline">
            <a:extLst>
              <a:ext uri="{FF2B5EF4-FFF2-40B4-BE49-F238E27FC236}">
                <a16:creationId xmlns:a16="http://schemas.microsoft.com/office/drawing/2014/main" id="{4C42E9AE-1E5F-DA76-D287-324ACADB82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349" y="4698958"/>
            <a:ext cx="386080" cy="3860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8F36E1-B302-EA26-AFD3-5FEF0ED0B7D3}"/>
              </a:ext>
            </a:extLst>
          </p:cNvPr>
          <p:cNvSpPr txBox="1"/>
          <p:nvPr/>
        </p:nvSpPr>
        <p:spPr>
          <a:xfrm>
            <a:off x="1462429" y="4822726"/>
            <a:ext cx="119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修订者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57E279-62EB-DB3B-1B61-0A8028139AA5}"/>
              </a:ext>
            </a:extLst>
          </p:cNvPr>
          <p:cNvSpPr txBox="1"/>
          <p:nvPr/>
        </p:nvSpPr>
        <p:spPr>
          <a:xfrm>
            <a:off x="984909" y="5212956"/>
            <a:ext cx="2600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对知识库内容做增删改查</a:t>
            </a:r>
            <a:endParaRPr lang="en-GB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2D90E0-0D8B-F8B5-F772-D015DA7CB244}"/>
              </a:ext>
            </a:extLst>
          </p:cNvPr>
          <p:cNvSpPr/>
          <p:nvPr/>
        </p:nvSpPr>
        <p:spPr>
          <a:xfrm>
            <a:off x="6217921" y="948505"/>
            <a:ext cx="3332480" cy="1308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7142C2-4DDA-C438-BC32-767F93856B9F}"/>
              </a:ext>
            </a:extLst>
          </p:cNvPr>
          <p:cNvSpPr txBox="1"/>
          <p:nvPr/>
        </p:nvSpPr>
        <p:spPr>
          <a:xfrm>
            <a:off x="7284718" y="1184914"/>
            <a:ext cx="1463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课件生成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AB09E0-AB31-F66A-DD88-19EC451951D8}"/>
              </a:ext>
            </a:extLst>
          </p:cNvPr>
          <p:cNvSpPr txBox="1"/>
          <p:nvPr/>
        </p:nvSpPr>
        <p:spPr>
          <a:xfrm>
            <a:off x="6357579" y="1790656"/>
            <a:ext cx="35814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Slides, Practical, Coursework, etc.</a:t>
            </a:r>
          </a:p>
        </p:txBody>
      </p:sp>
      <p:pic>
        <p:nvPicPr>
          <p:cNvPr id="29" name="Graphic 28" descr="Building Brick Wall outline">
            <a:extLst>
              <a:ext uri="{FF2B5EF4-FFF2-40B4-BE49-F238E27FC236}">
                <a16:creationId xmlns:a16="http://schemas.microsoft.com/office/drawing/2014/main" id="{0CD09C92-6A9B-24C4-F79E-F1DD2B8160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26062" y="1021936"/>
            <a:ext cx="650515" cy="650515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64692E-9CD4-763B-68B6-26C36347B445}"/>
              </a:ext>
            </a:extLst>
          </p:cNvPr>
          <p:cNvCxnSpPr>
            <a:cxnSpLocks/>
          </p:cNvCxnSpPr>
          <p:nvPr/>
        </p:nvCxnSpPr>
        <p:spPr>
          <a:xfrm>
            <a:off x="1462429" y="2222063"/>
            <a:ext cx="0" cy="2195349"/>
          </a:xfrm>
          <a:prstGeom prst="line">
            <a:avLst/>
          </a:prstGeom>
          <a:ln w="19050" cap="flat" cmpd="sng" algn="ctr">
            <a:solidFill>
              <a:schemeClr val="bg2">
                <a:lumMod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C43FF6-B980-8B63-08D4-1A63DAD00516}"/>
              </a:ext>
            </a:extLst>
          </p:cNvPr>
          <p:cNvCxnSpPr>
            <a:cxnSpLocks/>
          </p:cNvCxnSpPr>
          <p:nvPr/>
        </p:nvCxnSpPr>
        <p:spPr>
          <a:xfrm flipH="1">
            <a:off x="2899508" y="1082101"/>
            <a:ext cx="3086537" cy="12252"/>
          </a:xfrm>
          <a:prstGeom prst="line">
            <a:avLst/>
          </a:prstGeom>
          <a:ln w="19050" cap="flat" cmpd="sng" algn="ctr">
            <a:solidFill>
              <a:schemeClr val="bg2">
                <a:lumMod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CC9B81-CE4F-123A-30A8-937B29F81C32}"/>
              </a:ext>
            </a:extLst>
          </p:cNvPr>
          <p:cNvCxnSpPr>
            <a:cxnSpLocks/>
          </p:cNvCxnSpPr>
          <p:nvPr/>
        </p:nvCxnSpPr>
        <p:spPr>
          <a:xfrm flipV="1">
            <a:off x="3373119" y="1184914"/>
            <a:ext cx="0" cy="1145596"/>
          </a:xfrm>
          <a:prstGeom prst="line">
            <a:avLst/>
          </a:prstGeom>
          <a:ln w="19050" cap="flat" cmpd="sng" algn="ctr">
            <a:solidFill>
              <a:schemeClr val="bg2">
                <a:lumMod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9F6E80-97F8-1387-1183-C75693BD8E76}"/>
              </a:ext>
            </a:extLst>
          </p:cNvPr>
          <p:cNvSpPr/>
          <p:nvPr/>
        </p:nvSpPr>
        <p:spPr>
          <a:xfrm>
            <a:off x="6740088" y="2812532"/>
            <a:ext cx="4586391" cy="18153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18E3AA-59FC-28A1-43E2-742377465B3A}"/>
              </a:ext>
            </a:extLst>
          </p:cNvPr>
          <p:cNvSpPr txBox="1"/>
          <p:nvPr/>
        </p:nvSpPr>
        <p:spPr>
          <a:xfrm>
            <a:off x="7553635" y="2881110"/>
            <a:ext cx="660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学生</a:t>
            </a:r>
            <a:endParaRPr lang="en-GB" dirty="0"/>
          </a:p>
        </p:txBody>
      </p:sp>
      <p:pic>
        <p:nvPicPr>
          <p:cNvPr id="43" name="Graphic 42" descr="User Crown Male outline">
            <a:extLst>
              <a:ext uri="{FF2B5EF4-FFF2-40B4-BE49-F238E27FC236}">
                <a16:creationId xmlns:a16="http://schemas.microsoft.com/office/drawing/2014/main" id="{0A15DF02-5A84-0799-7D7A-19E43F531A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44079" y="2827673"/>
            <a:ext cx="614680" cy="614680"/>
          </a:xfrm>
          <a:prstGeom prst="rect">
            <a:avLst/>
          </a:prstGeom>
        </p:spPr>
      </p:pic>
      <p:sp>
        <p:nvSpPr>
          <p:cNvPr id="45" name="Arrow: Down 44">
            <a:extLst>
              <a:ext uri="{FF2B5EF4-FFF2-40B4-BE49-F238E27FC236}">
                <a16:creationId xmlns:a16="http://schemas.microsoft.com/office/drawing/2014/main" id="{03EA3D0E-C335-854E-9A99-4718C34F3186}"/>
              </a:ext>
            </a:extLst>
          </p:cNvPr>
          <p:cNvSpPr/>
          <p:nvPr/>
        </p:nvSpPr>
        <p:spPr>
          <a:xfrm>
            <a:off x="7823198" y="2364471"/>
            <a:ext cx="304798" cy="263288"/>
          </a:xfrm>
          <a:prstGeom prst="downArrow">
            <a:avLst>
              <a:gd name="adj1" fmla="val 56667"/>
              <a:gd name="adj2" fmla="val 422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51F9B8-C46B-8293-A1B5-830AB8588B53}"/>
              </a:ext>
            </a:extLst>
          </p:cNvPr>
          <p:cNvSpPr/>
          <p:nvPr/>
        </p:nvSpPr>
        <p:spPr>
          <a:xfrm>
            <a:off x="10251440" y="3442353"/>
            <a:ext cx="614680" cy="546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CW</a:t>
            </a:r>
            <a:endParaRPr lang="en-GB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6362C3B-026C-8F87-180D-976AEC674FC0}"/>
              </a:ext>
            </a:extLst>
          </p:cNvPr>
          <p:cNvCxnSpPr>
            <a:cxnSpLocks/>
            <a:stCxn id="24" idx="3"/>
            <a:endCxn id="46" idx="0"/>
          </p:cNvCxnSpPr>
          <p:nvPr/>
        </p:nvCxnSpPr>
        <p:spPr>
          <a:xfrm>
            <a:off x="9550401" y="1602555"/>
            <a:ext cx="1008379" cy="183979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59F6D99-5F94-5854-F415-E94EFF35EEF0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10558780" y="3988634"/>
            <a:ext cx="0" cy="14759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15AC1E2-D6B3-7FB4-FB5A-3CA2028781D0}"/>
              </a:ext>
            </a:extLst>
          </p:cNvPr>
          <p:cNvSpPr txBox="1"/>
          <p:nvPr/>
        </p:nvSpPr>
        <p:spPr>
          <a:xfrm>
            <a:off x="9807741" y="5471958"/>
            <a:ext cx="1502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Final Marking</a:t>
            </a:r>
            <a:endParaRPr lang="en-GB" dirty="0"/>
          </a:p>
        </p:txBody>
      </p:sp>
      <p:sp>
        <p:nvSpPr>
          <p:cNvPr id="59" name="Arrow: Bent 58">
            <a:extLst>
              <a:ext uri="{FF2B5EF4-FFF2-40B4-BE49-F238E27FC236}">
                <a16:creationId xmlns:a16="http://schemas.microsoft.com/office/drawing/2014/main" id="{6101CF81-D0F2-790B-353B-E19D3BB8EBCE}"/>
              </a:ext>
            </a:extLst>
          </p:cNvPr>
          <p:cNvSpPr/>
          <p:nvPr/>
        </p:nvSpPr>
        <p:spPr>
          <a:xfrm>
            <a:off x="4098266" y="1391919"/>
            <a:ext cx="1963462" cy="1033991"/>
          </a:xfrm>
          <a:prstGeom prst="bentArrow">
            <a:avLst>
              <a:gd name="adj1" fmla="val 5746"/>
              <a:gd name="adj2" fmla="val 10769"/>
              <a:gd name="adj3" fmla="val 14117"/>
              <a:gd name="adj4" fmla="val 646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C19593-14EB-293A-06B1-53D7239B7C97}"/>
              </a:ext>
            </a:extLst>
          </p:cNvPr>
          <p:cNvSpPr txBox="1"/>
          <p:nvPr/>
        </p:nvSpPr>
        <p:spPr>
          <a:xfrm>
            <a:off x="6930181" y="3489015"/>
            <a:ext cx="1571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学习课件</a:t>
            </a:r>
            <a:endParaRPr lang="en-GB" altLang="zh-CN" sz="1600" dirty="0"/>
          </a:p>
          <a:p>
            <a:r>
              <a:rPr lang="zh-CN" altLang="en-US" sz="1600" dirty="0"/>
              <a:t>做题</a:t>
            </a:r>
            <a:endParaRPr lang="en-GB" altLang="zh-CN" sz="1600" dirty="0"/>
          </a:p>
          <a:p>
            <a:r>
              <a:rPr lang="zh-CN" altLang="en-US" sz="1600" dirty="0"/>
              <a:t>提供实时表现</a:t>
            </a:r>
            <a:endParaRPr lang="en-GB" sz="1600" dirty="0"/>
          </a:p>
        </p:txBody>
      </p:sp>
      <p:pic>
        <p:nvPicPr>
          <p:cNvPr id="67" name="Graphic 66" descr="Crab outline">
            <a:extLst>
              <a:ext uri="{FF2B5EF4-FFF2-40B4-BE49-F238E27FC236}">
                <a16:creationId xmlns:a16="http://schemas.microsoft.com/office/drawing/2014/main" id="{A58F5EDF-81DB-F432-819A-89F0C028DC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13902" y="3250442"/>
            <a:ext cx="419382" cy="41938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F53E97AA-1F7A-44D0-7A9D-DAFF5CAF14B6}"/>
              </a:ext>
            </a:extLst>
          </p:cNvPr>
          <p:cNvSpPr txBox="1"/>
          <p:nvPr/>
        </p:nvSpPr>
        <p:spPr>
          <a:xfrm>
            <a:off x="8724858" y="3656219"/>
            <a:ext cx="1416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个人专属</a:t>
            </a:r>
            <a:endParaRPr lang="en-GB" altLang="zh-CN" sz="1200" dirty="0"/>
          </a:p>
          <a:p>
            <a:r>
              <a:rPr lang="en-GB" altLang="zh-CN" sz="1200" dirty="0"/>
              <a:t>Agent tutor</a:t>
            </a:r>
            <a:endParaRPr lang="en-GB" sz="1200" dirty="0"/>
          </a:p>
        </p:txBody>
      </p:sp>
      <p:sp>
        <p:nvSpPr>
          <p:cNvPr id="70" name="Arrow: Bent-Up 69">
            <a:extLst>
              <a:ext uri="{FF2B5EF4-FFF2-40B4-BE49-F238E27FC236}">
                <a16:creationId xmlns:a16="http://schemas.microsoft.com/office/drawing/2014/main" id="{07C1A97C-ABC6-7F30-566E-9F3E1206DBCF}"/>
              </a:ext>
            </a:extLst>
          </p:cNvPr>
          <p:cNvSpPr/>
          <p:nvPr/>
        </p:nvSpPr>
        <p:spPr>
          <a:xfrm rot="16200000" flipH="1">
            <a:off x="7367260" y="4899108"/>
            <a:ext cx="911877" cy="33137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25C59A3E-7311-B061-A7DE-5CDA7334A1D2}"/>
              </a:ext>
            </a:extLst>
          </p:cNvPr>
          <p:cNvSpPr/>
          <p:nvPr/>
        </p:nvSpPr>
        <p:spPr>
          <a:xfrm>
            <a:off x="2688210" y="4021686"/>
            <a:ext cx="110956" cy="54384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B57EC-3869-7F80-2462-168A0C0F057B}"/>
              </a:ext>
            </a:extLst>
          </p:cNvPr>
          <p:cNvSpPr txBox="1"/>
          <p:nvPr/>
        </p:nvSpPr>
        <p:spPr>
          <a:xfrm>
            <a:off x="4145193" y="373352"/>
            <a:ext cx="1656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Weekly routine</a:t>
            </a:r>
            <a:endParaRPr lang="en-GB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1947D-144C-215A-86F3-9D75143A0FA9}"/>
              </a:ext>
            </a:extLst>
          </p:cNvPr>
          <p:cNvSpPr/>
          <p:nvPr/>
        </p:nvSpPr>
        <p:spPr>
          <a:xfrm>
            <a:off x="4794659" y="4754578"/>
            <a:ext cx="2804596" cy="1434760"/>
          </a:xfrm>
          <a:prstGeom prst="rect">
            <a:avLst/>
          </a:prstGeom>
          <a:solidFill>
            <a:srgbClr val="FFFCC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Graphic 8" descr="Research outline">
            <a:extLst>
              <a:ext uri="{FF2B5EF4-FFF2-40B4-BE49-F238E27FC236}">
                <a16:creationId xmlns:a16="http://schemas.microsoft.com/office/drawing/2014/main" id="{C6D78494-1BFA-82D9-8FAD-90068F6B0A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5976" y="4785854"/>
            <a:ext cx="457200" cy="457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2F8071-A1D7-3C77-E8BC-3F2472F2E8FE}"/>
              </a:ext>
            </a:extLst>
          </p:cNvPr>
          <p:cNvSpPr txBox="1"/>
          <p:nvPr/>
        </p:nvSpPr>
        <p:spPr>
          <a:xfrm>
            <a:off x="5331017" y="4843624"/>
            <a:ext cx="1529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分析</a:t>
            </a:r>
            <a:r>
              <a:rPr lang="en-GB" altLang="zh-CN" dirty="0"/>
              <a:t>/</a:t>
            </a:r>
            <a:r>
              <a:rPr lang="zh-CN" altLang="en-US" dirty="0"/>
              <a:t>复盘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A05EA-C4AB-88F6-8489-FD42FAFE1A08}"/>
              </a:ext>
            </a:extLst>
          </p:cNvPr>
          <p:cNvSpPr txBox="1"/>
          <p:nvPr/>
        </p:nvSpPr>
        <p:spPr>
          <a:xfrm>
            <a:off x="7962312" y="4856260"/>
            <a:ext cx="15299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原始行为</a:t>
            </a:r>
            <a:r>
              <a:rPr lang="en-GB" altLang="zh-CN" sz="1200" dirty="0"/>
              <a:t>‘</a:t>
            </a:r>
            <a:r>
              <a:rPr lang="zh-CN" altLang="en-US" sz="1200" dirty="0"/>
              <a:t>信号</a:t>
            </a:r>
            <a:r>
              <a:rPr lang="en-GB" altLang="zh-CN" sz="1200" dirty="0"/>
              <a:t>’</a:t>
            </a:r>
            <a:endParaRPr lang="en-GB" sz="12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A629BC9-C5E4-5538-4953-BE0CDE995C5F}"/>
              </a:ext>
            </a:extLst>
          </p:cNvPr>
          <p:cNvSpPr/>
          <p:nvPr/>
        </p:nvSpPr>
        <p:spPr>
          <a:xfrm rot="10800000">
            <a:off x="5023833" y="3915584"/>
            <a:ext cx="249939" cy="649951"/>
          </a:xfrm>
          <a:prstGeom prst="downArrow">
            <a:avLst>
              <a:gd name="adj1" fmla="val 56667"/>
              <a:gd name="adj2" fmla="val 422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7FC96F-F6E1-C627-961A-4879B4D08EA8}"/>
              </a:ext>
            </a:extLst>
          </p:cNvPr>
          <p:cNvSpPr txBox="1"/>
          <p:nvPr/>
        </p:nvSpPr>
        <p:spPr>
          <a:xfrm>
            <a:off x="4939925" y="5520733"/>
            <a:ext cx="2499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将信号转换为</a:t>
            </a:r>
            <a:r>
              <a:rPr lang="en-GB" altLang="zh-CN" sz="1200" dirty="0"/>
              <a:t> Agent</a:t>
            </a:r>
            <a:r>
              <a:rPr lang="zh-CN" altLang="en-US" sz="1200" dirty="0"/>
              <a:t>们的 </a:t>
            </a:r>
            <a:r>
              <a:rPr lang="en-GB" altLang="zh-CN" sz="1200" dirty="0"/>
              <a:t>-</a:t>
            </a:r>
          </a:p>
          <a:p>
            <a:r>
              <a:rPr lang="en-GB" sz="1200" dirty="0"/>
              <a:t>- </a:t>
            </a:r>
            <a:r>
              <a:rPr lang="en-US" sz="1200" dirty="0"/>
              <a:t>Following o</a:t>
            </a:r>
            <a:r>
              <a:rPr lang="en-US" altLang="zh-CN" sz="1200" dirty="0"/>
              <a:t>perational decisions</a:t>
            </a:r>
            <a:endParaRPr lang="en-GB" sz="1200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9AE9FC9-9E7D-E789-82F0-30E5E2991D19}"/>
              </a:ext>
            </a:extLst>
          </p:cNvPr>
          <p:cNvCxnSpPr>
            <a:cxnSpLocks/>
          </p:cNvCxnSpPr>
          <p:nvPr/>
        </p:nvCxnSpPr>
        <p:spPr>
          <a:xfrm>
            <a:off x="1201649" y="2164079"/>
            <a:ext cx="1035465" cy="541183"/>
          </a:xfrm>
          <a:prstGeom prst="bentConnector3">
            <a:avLst>
              <a:gd name="adj1" fmla="val -1276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5C5EC65-9DFD-CAFE-8A90-705D12AD3860}"/>
              </a:ext>
            </a:extLst>
          </p:cNvPr>
          <p:cNvCxnSpPr>
            <a:cxnSpLocks/>
          </p:cNvCxnSpPr>
          <p:nvPr/>
        </p:nvCxnSpPr>
        <p:spPr>
          <a:xfrm flipV="1">
            <a:off x="1147735" y="3534391"/>
            <a:ext cx="1086418" cy="883021"/>
          </a:xfrm>
          <a:prstGeom prst="bentConnector3">
            <a:avLst>
              <a:gd name="adj1" fmla="val 2034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1ABF9A0-346F-F2B0-9E8C-9E2B450E7E9D}"/>
              </a:ext>
            </a:extLst>
          </p:cNvPr>
          <p:cNvSpPr txBox="1"/>
          <p:nvPr/>
        </p:nvSpPr>
        <p:spPr>
          <a:xfrm>
            <a:off x="252884" y="2827673"/>
            <a:ext cx="11786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人</a:t>
            </a:r>
            <a:r>
              <a:rPr lang="en-GB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&amp;Agents</a:t>
            </a:r>
          </a:p>
          <a:p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合作构建初版知识库</a:t>
            </a:r>
            <a:endParaRPr lang="en-GB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3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98788819-24C9-74F8-A898-6ED89A67E147}"/>
              </a:ext>
            </a:extLst>
          </p:cNvPr>
          <p:cNvSpPr/>
          <p:nvPr/>
        </p:nvSpPr>
        <p:spPr>
          <a:xfrm>
            <a:off x="5446534" y="2419062"/>
            <a:ext cx="6112748" cy="1637249"/>
          </a:xfrm>
          <a:prstGeom prst="rect">
            <a:avLst/>
          </a:prstGeom>
          <a:solidFill>
            <a:srgbClr val="F9E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16E7D5-16A5-4B7D-601A-BBABD7843AE1}"/>
              </a:ext>
            </a:extLst>
          </p:cNvPr>
          <p:cNvGrpSpPr/>
          <p:nvPr/>
        </p:nvGrpSpPr>
        <p:grpSpPr>
          <a:xfrm>
            <a:off x="738192" y="628513"/>
            <a:ext cx="3645568" cy="1218675"/>
            <a:chOff x="2574813" y="-83152"/>
            <a:chExt cx="6437695" cy="18120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00194B5-1BAA-8DA6-FA97-31484AC2569F}"/>
                </a:ext>
              </a:extLst>
            </p:cNvPr>
            <p:cNvSpPr/>
            <p:nvPr/>
          </p:nvSpPr>
          <p:spPr>
            <a:xfrm>
              <a:off x="2574813" y="-83152"/>
              <a:ext cx="6437695" cy="1812064"/>
            </a:xfrm>
            <a:prstGeom prst="rect">
              <a:avLst/>
            </a:prstGeom>
            <a:solidFill>
              <a:srgbClr val="EBF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F6E370-5AF0-3A81-DD7A-7AA504273001}"/>
                </a:ext>
              </a:extLst>
            </p:cNvPr>
            <p:cNvSpPr/>
            <p:nvPr/>
          </p:nvSpPr>
          <p:spPr>
            <a:xfrm>
              <a:off x="3290176" y="368377"/>
              <a:ext cx="2067501" cy="432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3F017F-4D01-B5CE-2202-00CDDEE84ECD}"/>
                </a:ext>
              </a:extLst>
            </p:cNvPr>
            <p:cNvSpPr txBox="1"/>
            <p:nvPr/>
          </p:nvSpPr>
          <p:spPr>
            <a:xfrm>
              <a:off x="4388628" y="-68826"/>
              <a:ext cx="18085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Human </a:t>
              </a:r>
              <a:r>
                <a:rPr lang="en-GB" sz="1100" b="1" dirty="0"/>
                <a:t>Governance layer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35C7A8-B66F-FE4B-D2BE-1F432E98A295}"/>
                </a:ext>
              </a:extLst>
            </p:cNvPr>
            <p:cNvSpPr txBox="1"/>
            <p:nvPr/>
          </p:nvSpPr>
          <p:spPr>
            <a:xfrm>
              <a:off x="3388196" y="392618"/>
              <a:ext cx="10999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Teaching Team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1AC478-9338-36A4-F3CB-B3BBB44EF8DF}"/>
                </a:ext>
              </a:extLst>
            </p:cNvPr>
            <p:cNvSpPr/>
            <p:nvPr/>
          </p:nvSpPr>
          <p:spPr>
            <a:xfrm>
              <a:off x="6008469" y="328485"/>
              <a:ext cx="2284395" cy="4688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8C9725-1419-9EC9-1F69-A872214FFD00}"/>
                </a:ext>
              </a:extLst>
            </p:cNvPr>
            <p:cNvSpPr txBox="1"/>
            <p:nvPr/>
          </p:nvSpPr>
          <p:spPr>
            <a:xfrm>
              <a:off x="6008469" y="392618"/>
              <a:ext cx="13003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Human </a:t>
              </a:r>
              <a:r>
                <a:rPr lang="en-US" altLang="zh-CN" sz="1100" dirty="0"/>
                <a:t>Governors</a:t>
              </a:r>
              <a:endParaRPr lang="en-GB" sz="11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AE579C-7E9C-D90F-E0CE-7FF4DBB4407E}"/>
                </a:ext>
              </a:extLst>
            </p:cNvPr>
            <p:cNvSpPr txBox="1"/>
            <p:nvPr/>
          </p:nvSpPr>
          <p:spPr>
            <a:xfrm>
              <a:off x="3141407" y="923312"/>
              <a:ext cx="10679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/>
                <a:t>- syllabus</a:t>
              </a:r>
            </a:p>
            <a:p>
              <a:r>
                <a:rPr lang="en-GB" sz="800" dirty="0"/>
                <a:t>- learning outcomes</a:t>
              </a:r>
            </a:p>
            <a:p>
              <a:r>
                <a:rPr lang="en-GB" sz="800" dirty="0"/>
                <a:t>- policy constraints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5DBFDD-0CD6-C2F9-8E6F-1B60291FE2D7}"/>
                </a:ext>
              </a:extLst>
            </p:cNvPr>
            <p:cNvSpPr txBox="1"/>
            <p:nvPr/>
          </p:nvSpPr>
          <p:spPr>
            <a:xfrm>
              <a:off x="5938684" y="946174"/>
              <a:ext cx="16033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/>
                <a:t>- approve key updates</a:t>
              </a:r>
            </a:p>
            <a:p>
              <a:r>
                <a:rPr lang="en-GB" sz="800" dirty="0"/>
                <a:t>- set strategic teaching priorities</a:t>
              </a:r>
            </a:p>
            <a:p>
              <a:r>
                <a:rPr lang="en-GB" sz="800" dirty="0"/>
                <a:t>- supervise curriculum direction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F5AEB-FC2E-0B7C-7644-D774FF5B1AE5}"/>
              </a:ext>
            </a:extLst>
          </p:cNvPr>
          <p:cNvSpPr/>
          <p:nvPr/>
        </p:nvSpPr>
        <p:spPr>
          <a:xfrm>
            <a:off x="795326" y="2547361"/>
            <a:ext cx="3428117" cy="12932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94F60D-3903-B76E-D3D8-168D3A3AC454}"/>
              </a:ext>
            </a:extLst>
          </p:cNvPr>
          <p:cNvSpPr/>
          <p:nvPr/>
        </p:nvSpPr>
        <p:spPr>
          <a:xfrm>
            <a:off x="1266360" y="2910857"/>
            <a:ext cx="797173" cy="3077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100E7-405A-C0DA-18E1-91267FCAD37C}"/>
              </a:ext>
            </a:extLst>
          </p:cNvPr>
          <p:cNvSpPr txBox="1"/>
          <p:nvPr/>
        </p:nvSpPr>
        <p:spPr>
          <a:xfrm>
            <a:off x="1688476" y="2572084"/>
            <a:ext cx="156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Orchestration Layer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145DC9-64BB-06B1-EF9A-474B6AE37340}"/>
              </a:ext>
            </a:extLst>
          </p:cNvPr>
          <p:cNvSpPr txBox="1"/>
          <p:nvPr/>
        </p:nvSpPr>
        <p:spPr>
          <a:xfrm>
            <a:off x="1314072" y="2933941"/>
            <a:ext cx="6623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Council</a:t>
            </a:r>
            <a:endParaRPr lang="en-GB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58359D-0FC1-77A4-A724-B8BF2887A149}"/>
              </a:ext>
            </a:extLst>
          </p:cNvPr>
          <p:cNvSpPr/>
          <p:nvPr/>
        </p:nvSpPr>
        <p:spPr>
          <a:xfrm>
            <a:off x="2660727" y="2925294"/>
            <a:ext cx="1105751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F4ED27-6053-A914-A4E7-C211A921BB7A}"/>
              </a:ext>
            </a:extLst>
          </p:cNvPr>
          <p:cNvSpPr txBox="1"/>
          <p:nvPr/>
        </p:nvSpPr>
        <p:spPr>
          <a:xfrm>
            <a:off x="2725504" y="2917143"/>
            <a:ext cx="1024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Task Manager</a:t>
            </a:r>
            <a:endParaRPr lang="en-GB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E55948-F3A7-009C-C898-7610E427F193}"/>
              </a:ext>
            </a:extLst>
          </p:cNvPr>
          <p:cNvSpPr txBox="1"/>
          <p:nvPr/>
        </p:nvSpPr>
        <p:spPr>
          <a:xfrm>
            <a:off x="2472569" y="3278835"/>
            <a:ext cx="160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- design tasks</a:t>
            </a:r>
          </a:p>
          <a:p>
            <a:r>
              <a:rPr lang="en-GB" sz="800" dirty="0"/>
              <a:t>- assign subagents</a:t>
            </a:r>
          </a:p>
          <a:p>
            <a:r>
              <a:rPr lang="en-GB" sz="800" dirty="0"/>
              <a:t>- assign skills &amp; supportive skills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23E28C-8B46-A1B0-A52B-737577D34DB3}"/>
              </a:ext>
            </a:extLst>
          </p:cNvPr>
          <p:cNvSpPr txBox="1"/>
          <p:nvPr/>
        </p:nvSpPr>
        <p:spPr>
          <a:xfrm>
            <a:off x="885211" y="3278834"/>
            <a:ext cx="1531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- Set cores</a:t>
            </a:r>
          </a:p>
          <a:p>
            <a:r>
              <a:rPr lang="en-GB" sz="800" dirty="0"/>
              <a:t>- Review subagents’ proposals</a:t>
            </a:r>
          </a:p>
          <a:p>
            <a:r>
              <a:rPr lang="en-GB" sz="800" dirty="0"/>
              <a:t>- Decide </a:t>
            </a:r>
            <a:r>
              <a:rPr lang="en-GB" sz="800" dirty="0" err="1"/>
              <a:t>in&amp;outs</a:t>
            </a:r>
            <a:endParaRPr lang="en-GB" sz="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2A5EC1-0D24-5EDE-C033-96959E096450}"/>
              </a:ext>
            </a:extLst>
          </p:cNvPr>
          <p:cNvSpPr/>
          <p:nvPr/>
        </p:nvSpPr>
        <p:spPr>
          <a:xfrm>
            <a:off x="4916807" y="550017"/>
            <a:ext cx="7025368" cy="133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3FEE96-B05B-69AC-128A-A3841748974C}"/>
              </a:ext>
            </a:extLst>
          </p:cNvPr>
          <p:cNvSpPr/>
          <p:nvPr/>
        </p:nvSpPr>
        <p:spPr>
          <a:xfrm>
            <a:off x="5269057" y="993420"/>
            <a:ext cx="797173" cy="307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66CC6B-E34E-179A-006E-7A6622F7FFBC}"/>
              </a:ext>
            </a:extLst>
          </p:cNvPr>
          <p:cNvSpPr txBox="1"/>
          <p:nvPr/>
        </p:nvSpPr>
        <p:spPr>
          <a:xfrm>
            <a:off x="6566355" y="628513"/>
            <a:ext cx="1751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Knowledge Bank Layer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68746F-C518-C9B6-899C-58A7E18119AC}"/>
              </a:ext>
            </a:extLst>
          </p:cNvPr>
          <p:cNvSpPr txBox="1"/>
          <p:nvPr/>
        </p:nvSpPr>
        <p:spPr>
          <a:xfrm>
            <a:off x="5251567" y="1002820"/>
            <a:ext cx="855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knowledge</a:t>
            </a:r>
            <a:endParaRPr lang="en-GB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A0D381-BDAC-B806-4D4C-3836BB28F1C4}"/>
              </a:ext>
            </a:extLst>
          </p:cNvPr>
          <p:cNvSpPr/>
          <p:nvPr/>
        </p:nvSpPr>
        <p:spPr>
          <a:xfrm>
            <a:off x="6529124" y="993420"/>
            <a:ext cx="1348446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D84285-11C3-70E6-CFF9-8BAE6FE53D4C}"/>
              </a:ext>
            </a:extLst>
          </p:cNvPr>
          <p:cNvSpPr txBox="1"/>
          <p:nvPr/>
        </p:nvSpPr>
        <p:spPr>
          <a:xfrm>
            <a:off x="6505942" y="989292"/>
            <a:ext cx="13484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Frontier knowledge</a:t>
            </a:r>
            <a:endParaRPr lang="en-GB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C03610-5110-87B2-25A2-B4DDFC26674A}"/>
              </a:ext>
            </a:extLst>
          </p:cNvPr>
          <p:cNvSpPr txBox="1"/>
          <p:nvPr/>
        </p:nvSpPr>
        <p:spPr>
          <a:xfrm>
            <a:off x="6400082" y="1347744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- Latest discovers</a:t>
            </a:r>
          </a:p>
          <a:p>
            <a:r>
              <a:rPr lang="en-GB" sz="800" dirty="0"/>
              <a:t>- </a:t>
            </a:r>
            <a:r>
              <a:rPr lang="en-GB" sz="800" dirty="0" err="1"/>
              <a:t>Pendings</a:t>
            </a:r>
            <a:endParaRPr lang="en-GB" sz="800" dirty="0"/>
          </a:p>
          <a:p>
            <a:r>
              <a:rPr lang="en-GB" sz="800" dirty="0"/>
              <a:t>- </a:t>
            </a:r>
            <a:r>
              <a:rPr lang="en-GB" sz="800" dirty="0" err="1"/>
              <a:t>candiate</a:t>
            </a:r>
            <a:r>
              <a:rPr lang="en-GB" sz="800" dirty="0"/>
              <a:t> items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EC552D-5444-4C01-5BBC-39D7F943767A}"/>
              </a:ext>
            </a:extLst>
          </p:cNvPr>
          <p:cNvSpPr txBox="1"/>
          <p:nvPr/>
        </p:nvSpPr>
        <p:spPr>
          <a:xfrm>
            <a:off x="5138250" y="1342928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- Approved core</a:t>
            </a:r>
          </a:p>
          <a:p>
            <a:r>
              <a:rPr lang="en-GB" sz="800" dirty="0"/>
              <a:t>-stable teaching </a:t>
            </a:r>
          </a:p>
          <a:p>
            <a:r>
              <a:rPr lang="en-GB" sz="800" dirty="0"/>
              <a:t>-official content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B9DE9C-8105-5EB7-ACE0-53CB5804805B}"/>
              </a:ext>
            </a:extLst>
          </p:cNvPr>
          <p:cNvSpPr/>
          <p:nvPr/>
        </p:nvSpPr>
        <p:spPr>
          <a:xfrm>
            <a:off x="8372262" y="999748"/>
            <a:ext cx="1220345" cy="307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791536-144C-53BD-1E1A-5D2F74543AF9}"/>
              </a:ext>
            </a:extLst>
          </p:cNvPr>
          <p:cNvSpPr txBox="1"/>
          <p:nvPr/>
        </p:nvSpPr>
        <p:spPr>
          <a:xfrm>
            <a:off x="8400615" y="1349256"/>
            <a:ext cx="1375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-</a:t>
            </a:r>
            <a:r>
              <a:rPr lang="en-GB" sz="800" dirty="0" err="1"/>
              <a:t>outdated,not</a:t>
            </a:r>
            <a:r>
              <a:rPr lang="en-GB" sz="800" dirty="0"/>
              <a:t> fully deleted</a:t>
            </a:r>
          </a:p>
          <a:p>
            <a:r>
              <a:rPr lang="en-GB" sz="800" dirty="0"/>
              <a:t>-historical memory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E5ACB3-39DB-D03F-FFC0-0AD62DA07289}"/>
              </a:ext>
            </a:extLst>
          </p:cNvPr>
          <p:cNvSpPr txBox="1"/>
          <p:nvPr/>
        </p:nvSpPr>
        <p:spPr>
          <a:xfrm>
            <a:off x="8331497" y="1016716"/>
            <a:ext cx="15728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Archived / deprecated</a:t>
            </a:r>
            <a:endParaRPr lang="en-GB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19CB46-9DF5-F25A-A6C6-12A98255BCD2}"/>
              </a:ext>
            </a:extLst>
          </p:cNvPr>
          <p:cNvSpPr/>
          <p:nvPr/>
        </p:nvSpPr>
        <p:spPr>
          <a:xfrm>
            <a:off x="5654187" y="2656999"/>
            <a:ext cx="1759337" cy="1183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A238C1-8A13-03AB-2A56-C6693198C920}"/>
              </a:ext>
            </a:extLst>
          </p:cNvPr>
          <p:cNvSpPr/>
          <p:nvPr/>
        </p:nvSpPr>
        <p:spPr>
          <a:xfrm>
            <a:off x="6125221" y="2780109"/>
            <a:ext cx="1202583" cy="1538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F840A5-79F7-6C6C-639C-B90E9B99783B}"/>
              </a:ext>
            </a:extLst>
          </p:cNvPr>
          <p:cNvSpPr txBox="1"/>
          <p:nvPr/>
        </p:nvSpPr>
        <p:spPr>
          <a:xfrm>
            <a:off x="7220052" y="2406634"/>
            <a:ext cx="19452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Content generation Layer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77FE94-AE78-A0C1-8F57-BA216C541BD5}"/>
              </a:ext>
            </a:extLst>
          </p:cNvPr>
          <p:cNvSpPr txBox="1"/>
          <p:nvPr/>
        </p:nvSpPr>
        <p:spPr>
          <a:xfrm>
            <a:off x="5783378" y="2741296"/>
            <a:ext cx="14610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Curriculum agents</a:t>
            </a:r>
            <a:endParaRPr lang="en-GB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18420A-9C4A-AE9A-330A-174219C4BAAB}"/>
              </a:ext>
            </a:extLst>
          </p:cNvPr>
          <p:cNvSpPr txBox="1"/>
          <p:nvPr/>
        </p:nvSpPr>
        <p:spPr>
          <a:xfrm>
            <a:off x="5744072" y="3148086"/>
            <a:ext cx="184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BC169A-4D3D-F2E6-FE1D-262D6B83E115}"/>
              </a:ext>
            </a:extLst>
          </p:cNvPr>
          <p:cNvSpPr txBox="1"/>
          <p:nvPr/>
        </p:nvSpPr>
        <p:spPr>
          <a:xfrm>
            <a:off x="5783378" y="3132697"/>
            <a:ext cx="9669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Lecture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Practical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Coursework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Rubric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Marking</a:t>
            </a:r>
            <a:endParaRPr lang="en-GB" sz="8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ABC664-B157-852F-2A23-9EF1C949D824}"/>
              </a:ext>
            </a:extLst>
          </p:cNvPr>
          <p:cNvSpPr/>
          <p:nvPr/>
        </p:nvSpPr>
        <p:spPr>
          <a:xfrm>
            <a:off x="7580815" y="2656999"/>
            <a:ext cx="1759337" cy="1183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72DDF69-0BF3-7D28-8890-724CF7FC0600}"/>
              </a:ext>
            </a:extLst>
          </p:cNvPr>
          <p:cNvSpPr/>
          <p:nvPr/>
        </p:nvSpPr>
        <p:spPr>
          <a:xfrm>
            <a:off x="8051849" y="2780109"/>
            <a:ext cx="1099538" cy="1538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8F703F-CA2A-2129-CE91-0CA2E958120E}"/>
              </a:ext>
            </a:extLst>
          </p:cNvPr>
          <p:cNvSpPr txBox="1"/>
          <p:nvPr/>
        </p:nvSpPr>
        <p:spPr>
          <a:xfrm>
            <a:off x="7782753" y="2724746"/>
            <a:ext cx="14610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Evolution agents</a:t>
            </a:r>
            <a:endParaRPr lang="en-GB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D2A9FE-2A0F-AA1F-52C5-036905D49836}"/>
              </a:ext>
            </a:extLst>
          </p:cNvPr>
          <p:cNvSpPr txBox="1"/>
          <p:nvPr/>
        </p:nvSpPr>
        <p:spPr>
          <a:xfrm>
            <a:off x="7670700" y="3148086"/>
            <a:ext cx="184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AB17EF-60EB-E32F-C6F2-6A7590D03C2D}"/>
              </a:ext>
            </a:extLst>
          </p:cNvPr>
          <p:cNvSpPr txBox="1"/>
          <p:nvPr/>
        </p:nvSpPr>
        <p:spPr>
          <a:xfrm>
            <a:off x="7710006" y="3132697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Explorer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Bank cleaner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Trend monitor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Update proposer</a:t>
            </a:r>
            <a:endParaRPr lang="en-GB" sz="8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3FB979-4850-FCCE-69A0-A5E679CB9DB5}"/>
              </a:ext>
            </a:extLst>
          </p:cNvPr>
          <p:cNvSpPr/>
          <p:nvPr/>
        </p:nvSpPr>
        <p:spPr>
          <a:xfrm>
            <a:off x="9598942" y="2656999"/>
            <a:ext cx="1759337" cy="1183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BAACA5E-55C8-0BD9-9E20-885685449D3C}"/>
              </a:ext>
            </a:extLst>
          </p:cNvPr>
          <p:cNvSpPr/>
          <p:nvPr/>
        </p:nvSpPr>
        <p:spPr>
          <a:xfrm>
            <a:off x="10017189" y="2780109"/>
            <a:ext cx="1161255" cy="1538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A315FD-F2D8-DF4A-8F24-960AF1A8BCD7}"/>
              </a:ext>
            </a:extLst>
          </p:cNvPr>
          <p:cNvSpPr txBox="1"/>
          <p:nvPr/>
        </p:nvSpPr>
        <p:spPr>
          <a:xfrm>
            <a:off x="9748093" y="2724746"/>
            <a:ext cx="14610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Quality / Audit agent</a:t>
            </a:r>
            <a:endParaRPr lang="en-GB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D17746-8B0A-1382-ED3E-7C5099E339CA}"/>
              </a:ext>
            </a:extLst>
          </p:cNvPr>
          <p:cNvSpPr txBox="1"/>
          <p:nvPr/>
        </p:nvSpPr>
        <p:spPr>
          <a:xfrm>
            <a:off x="9636040" y="3148086"/>
            <a:ext cx="184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901FE4-6C4F-2807-02B4-AD08FAEB44B6}"/>
              </a:ext>
            </a:extLst>
          </p:cNvPr>
          <p:cNvSpPr txBox="1"/>
          <p:nvPr/>
        </p:nvSpPr>
        <p:spPr>
          <a:xfrm>
            <a:off x="9675346" y="3132697"/>
            <a:ext cx="12458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Alignment checker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Assessment auditor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Hallucination check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Risk / gap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Pedagogical QA</a:t>
            </a:r>
            <a:endParaRPr lang="en-GB" sz="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8A8A9F7-43CE-24C5-E3BD-7078034F6801}"/>
              </a:ext>
            </a:extLst>
          </p:cNvPr>
          <p:cNvSpPr/>
          <p:nvPr/>
        </p:nvSpPr>
        <p:spPr>
          <a:xfrm>
            <a:off x="10030444" y="892759"/>
            <a:ext cx="1778239" cy="180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2228C5-45FE-43FA-5C44-3EAAD9FBCF60}"/>
              </a:ext>
            </a:extLst>
          </p:cNvPr>
          <p:cNvSpPr txBox="1"/>
          <p:nvPr/>
        </p:nvSpPr>
        <p:spPr>
          <a:xfrm>
            <a:off x="10033381" y="835096"/>
            <a:ext cx="2033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Student/Cohort Signal</a:t>
            </a:r>
            <a:br>
              <a:rPr lang="en-GB" sz="1200" dirty="0"/>
            </a:br>
            <a:r>
              <a:rPr lang="en-GB" sz="1200" dirty="0"/>
              <a:t>- errors </a:t>
            </a:r>
            <a:br>
              <a:rPr lang="en-GB" sz="1200" dirty="0"/>
            </a:br>
            <a:r>
              <a:rPr lang="en-GB" sz="1200" dirty="0"/>
              <a:t>- misconceptions </a:t>
            </a:r>
            <a:br>
              <a:rPr lang="en-GB" sz="1200" dirty="0"/>
            </a:br>
            <a:r>
              <a:rPr lang="en-GB" sz="1200" dirty="0"/>
              <a:t>- mastery gaps</a:t>
            </a:r>
            <a:br>
              <a:rPr lang="en-GB" sz="1200" dirty="0"/>
            </a:br>
            <a:r>
              <a:rPr lang="en-GB" sz="1200" dirty="0"/>
              <a:t>- learning patterns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5A65C88-E26D-A74D-6AA0-46FAA96DB1C2}"/>
              </a:ext>
            </a:extLst>
          </p:cNvPr>
          <p:cNvSpPr/>
          <p:nvPr/>
        </p:nvSpPr>
        <p:spPr>
          <a:xfrm>
            <a:off x="6393021" y="4666716"/>
            <a:ext cx="4611117" cy="1389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60E308-7014-D4F1-1DB8-88D2BA66207D}"/>
              </a:ext>
            </a:extLst>
          </p:cNvPr>
          <p:cNvSpPr txBox="1"/>
          <p:nvPr/>
        </p:nvSpPr>
        <p:spPr>
          <a:xfrm>
            <a:off x="7637470" y="4666716"/>
            <a:ext cx="195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Student Interaction Layer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4E7B73D-A64C-8CCE-4F66-F4B732FBC169}"/>
              </a:ext>
            </a:extLst>
          </p:cNvPr>
          <p:cNvSpPr/>
          <p:nvPr/>
        </p:nvSpPr>
        <p:spPr>
          <a:xfrm>
            <a:off x="8712229" y="5055515"/>
            <a:ext cx="1548569" cy="2192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4C4E75-D7CE-6698-8A44-5B12B4762FD6}"/>
              </a:ext>
            </a:extLst>
          </p:cNvPr>
          <p:cNvSpPr txBox="1"/>
          <p:nvPr/>
        </p:nvSpPr>
        <p:spPr>
          <a:xfrm>
            <a:off x="8634938" y="5055516"/>
            <a:ext cx="17158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Personal Advisor Agent</a:t>
            </a:r>
            <a:endParaRPr lang="en-GB" sz="11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4DEFB6-CED0-35D4-E7D8-FDE0967185AF}"/>
              </a:ext>
            </a:extLst>
          </p:cNvPr>
          <p:cNvSpPr txBox="1"/>
          <p:nvPr/>
        </p:nvSpPr>
        <p:spPr>
          <a:xfrm>
            <a:off x="8671464" y="5334118"/>
            <a:ext cx="2417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one advisor per student</a:t>
            </a:r>
            <a:br>
              <a:rPr lang="en-GB" sz="800" dirty="0"/>
            </a:br>
            <a:r>
              <a:rPr lang="en-GB" sz="800" dirty="0"/>
              <a:t>- tracks progress, weaknesses, pacing </a:t>
            </a:r>
          </a:p>
          <a:p>
            <a:r>
              <a:rPr lang="en-GB" sz="800" dirty="0"/>
              <a:t>- personalizes explanations, practice, remediation</a:t>
            </a:r>
            <a:br>
              <a:rPr lang="en-GB" sz="800" dirty="0"/>
            </a:br>
            <a:r>
              <a:rPr lang="en-GB" sz="800" dirty="0"/>
              <a:t>- reports aggregated signals upward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04F1B9-7389-73EA-F4EF-368F9B852342}"/>
              </a:ext>
            </a:extLst>
          </p:cNvPr>
          <p:cNvSpPr/>
          <p:nvPr/>
        </p:nvSpPr>
        <p:spPr>
          <a:xfrm>
            <a:off x="6771999" y="5043966"/>
            <a:ext cx="1548569" cy="2192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DDD4E71-3281-9621-36FF-04A374FCA60D}"/>
              </a:ext>
            </a:extLst>
          </p:cNvPr>
          <p:cNvSpPr txBox="1"/>
          <p:nvPr/>
        </p:nvSpPr>
        <p:spPr>
          <a:xfrm>
            <a:off x="6694708" y="5043967"/>
            <a:ext cx="17158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Students</a:t>
            </a:r>
            <a:endParaRPr lang="en-GB" sz="11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8D4407-A01E-5C6A-6D8C-142E6C3F284A}"/>
              </a:ext>
            </a:extLst>
          </p:cNvPr>
          <p:cNvSpPr txBox="1"/>
          <p:nvPr/>
        </p:nvSpPr>
        <p:spPr>
          <a:xfrm>
            <a:off x="6731234" y="5322569"/>
            <a:ext cx="12186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Learn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Ask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Perform practical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Submit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Help system evolve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8F7FDA2-7B8C-50CF-8E59-B8C7EF5D7CF0}"/>
              </a:ext>
            </a:extLst>
          </p:cNvPr>
          <p:cNvSpPr/>
          <p:nvPr/>
        </p:nvSpPr>
        <p:spPr>
          <a:xfrm>
            <a:off x="597304" y="4792194"/>
            <a:ext cx="4611117" cy="1238261"/>
          </a:xfrm>
          <a:prstGeom prst="rect">
            <a:avLst/>
          </a:prstGeom>
          <a:solidFill>
            <a:srgbClr val="FFFC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E50DE89-24E2-A3C5-87EC-146120AE6D83}"/>
              </a:ext>
            </a:extLst>
          </p:cNvPr>
          <p:cNvSpPr txBox="1"/>
          <p:nvPr/>
        </p:nvSpPr>
        <p:spPr>
          <a:xfrm>
            <a:off x="1438801" y="4873505"/>
            <a:ext cx="2952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Analytics / Feedback / Adaptation Layer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E450B85-289F-CD98-E25A-0BCA02E3CC8A}"/>
              </a:ext>
            </a:extLst>
          </p:cNvPr>
          <p:cNvSpPr txBox="1"/>
          <p:nvPr/>
        </p:nvSpPr>
        <p:spPr>
          <a:xfrm>
            <a:off x="813758" y="5231815"/>
            <a:ext cx="4119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collect student performance and interaction traces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detect weak topics, failing </a:t>
            </a:r>
            <a:r>
              <a:rPr lang="en-GB" sz="800" dirty="0" err="1"/>
              <a:t>practicals</a:t>
            </a:r>
            <a:r>
              <a:rPr lang="en-GB" sz="800" dirty="0"/>
              <a:t>, common misconceptions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produce cohort-level and curriculum-level insights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trigger proposals for re-teaching, content revision, or KB update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/>
              <a:t>send evidence back to Governor Council and Orchestrator </a:t>
            </a:r>
          </a:p>
        </p:txBody>
      </p:sp>
    </p:spTree>
    <p:extLst>
      <p:ext uri="{BB962C8B-B14F-4D97-AF65-F5344CB8AC3E}">
        <p14:creationId xmlns:p14="http://schemas.microsoft.com/office/powerpoint/2010/main" val="1883963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9063-1ED0-D894-7C76-B5C616E6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480" y="107017"/>
            <a:ext cx="4922520" cy="661035"/>
          </a:xfrm>
        </p:spPr>
        <p:txBody>
          <a:bodyPr>
            <a:normAutofit/>
          </a:bodyPr>
          <a:lstStyle/>
          <a:p>
            <a:r>
              <a:rPr lang="en-GB" sz="2800" dirty="0">
                <a:highlight>
                  <a:srgbClr val="FFFF00"/>
                </a:highlight>
              </a:rPr>
              <a:t>Departments &amp;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4558B-7CE6-57C1-C431-9E0D930DC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94" y="639097"/>
            <a:ext cx="10515600" cy="57813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highlight>
                  <a:srgbClr val="FFFCC9"/>
                </a:highlight>
              </a:rPr>
              <a:t>1. Human Governance Department</a:t>
            </a:r>
            <a:endParaRPr lang="en-GB" sz="1800" b="1" dirty="0">
              <a:highlight>
                <a:srgbClr val="FFFCC9"/>
              </a:highlight>
            </a:endParaRPr>
          </a:p>
          <a:p>
            <a:pPr marL="0" indent="0">
              <a:buNone/>
            </a:pPr>
            <a:r>
              <a:rPr lang="en-US" sz="1700" b="1" dirty="0"/>
              <a:t>	</a:t>
            </a:r>
            <a:r>
              <a:rPr lang="zh-CN" altLang="en-US" sz="1700" dirty="0"/>
              <a:t>设计</a:t>
            </a:r>
            <a:r>
              <a:rPr lang="en-GB" altLang="zh-CN" sz="1700" dirty="0"/>
              <a:t>policy, approve</a:t>
            </a:r>
            <a:r>
              <a:rPr lang="zh-CN" altLang="en-US" sz="1700" dirty="0"/>
              <a:t>大型修改</a:t>
            </a:r>
            <a:r>
              <a:rPr lang="en-GB" altLang="zh-CN" sz="1700" dirty="0"/>
              <a:t>, </a:t>
            </a:r>
            <a:r>
              <a:rPr lang="zh-CN" altLang="en-US" sz="1700" dirty="0"/>
              <a:t>部署早期需要一定人工‘运维’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highlight>
                  <a:srgbClr val="F3F3F3"/>
                </a:highlight>
              </a:rPr>
              <a:t>2. Orchestration Department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zh-CN" altLang="en-US" sz="1800" dirty="0"/>
              <a:t>构建</a:t>
            </a:r>
            <a:r>
              <a:rPr lang="en-US" altLang="zh-CN" sz="1800" dirty="0"/>
              <a:t>workflow, route tasks</a:t>
            </a:r>
            <a:r>
              <a:rPr lang="en-GB" altLang="zh-CN" sz="1800" dirty="0"/>
              <a:t>. Enforce </a:t>
            </a:r>
            <a:r>
              <a:rPr lang="en-US" altLang="zh-CN" sz="1800" dirty="0"/>
              <a:t>agent’s </a:t>
            </a:r>
            <a:r>
              <a:rPr lang="en-GB" altLang="zh-CN" sz="1800" dirty="0" err="1"/>
              <a:t>permiss</a:t>
            </a:r>
            <a:r>
              <a:rPr lang="en-US" altLang="zh-CN" sz="1800" dirty="0" err="1"/>
              <a:t>i</a:t>
            </a:r>
            <a:r>
              <a:rPr lang="en-GB" altLang="zh-CN" sz="1800" dirty="0"/>
              <a:t>on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highlight>
                  <a:srgbClr val="F9E7F7"/>
                </a:highlight>
              </a:rPr>
              <a:t>3. Knowledge Bank Department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zh-CN" altLang="en-US" sz="1800" dirty="0"/>
              <a:t>存储</a:t>
            </a:r>
            <a:r>
              <a:rPr lang="en-GB" altLang="zh-CN" sz="1800" dirty="0"/>
              <a:t>, </a:t>
            </a:r>
            <a:r>
              <a:rPr lang="zh-CN" altLang="en-US" sz="1800" dirty="0"/>
              <a:t>补丁</a:t>
            </a:r>
            <a:r>
              <a:rPr lang="en-GB" altLang="zh-CN" sz="1800" dirty="0"/>
              <a:t>,</a:t>
            </a:r>
            <a:r>
              <a:rPr lang="zh-CN" altLang="en-US" sz="1800" dirty="0"/>
              <a:t> 教材根基</a:t>
            </a:r>
            <a:r>
              <a:rPr lang="en-GB" altLang="zh-CN" sz="1800" dirty="0"/>
              <a:t>, </a:t>
            </a:r>
            <a:r>
              <a:rPr lang="zh-CN" altLang="en-US" sz="1800" dirty="0"/>
              <a:t>长期记忆</a:t>
            </a:r>
            <a:r>
              <a:rPr lang="en-GB" altLang="zh-CN" sz="1800" b="1" dirty="0"/>
              <a:t> 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highlight>
                  <a:srgbClr val="EBFAFF"/>
                </a:highlight>
              </a:rPr>
              <a:t>4. Curriculum Production Department</a:t>
            </a:r>
            <a:endParaRPr lang="en-GB" sz="1800" b="1" dirty="0">
              <a:highlight>
                <a:srgbClr val="EBFAFF"/>
              </a:highlight>
            </a:endParaRP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zh-CN" altLang="en-US" sz="1800" dirty="0"/>
              <a:t>生成教材</a:t>
            </a:r>
            <a:r>
              <a:rPr lang="en-GB" altLang="zh-CN" sz="1800" dirty="0"/>
              <a:t>, </a:t>
            </a:r>
            <a:r>
              <a:rPr lang="zh-CN" altLang="en-US" sz="1800" dirty="0"/>
              <a:t>设计考核</a:t>
            </a:r>
            <a:r>
              <a:rPr lang="en-GB" altLang="zh-CN" sz="1800" dirty="0"/>
              <a:t>(draft), feedback artifacts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highlight>
                  <a:srgbClr val="FFFCC9"/>
                </a:highlight>
              </a:rPr>
              <a:t>5. Evolution Department</a:t>
            </a:r>
            <a:endParaRPr lang="en-GB" sz="1800" b="1" dirty="0">
              <a:highlight>
                <a:srgbClr val="FFFCC9"/>
              </a:highlight>
            </a:endParaRP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zh-CN" altLang="en-US" sz="1800" dirty="0"/>
              <a:t>监视外部</a:t>
            </a:r>
            <a:r>
              <a:rPr lang="en-GB" altLang="zh-CN" sz="1800" dirty="0"/>
              <a:t>(e.g. web, </a:t>
            </a:r>
            <a:r>
              <a:rPr lang="en-GB" altLang="zh-CN" sz="1800" dirty="0" err="1"/>
              <a:t>arxiv</a:t>
            </a:r>
            <a:r>
              <a:rPr lang="en-GB" altLang="zh-CN" sz="1800" dirty="0"/>
              <a:t>, </a:t>
            </a:r>
            <a:r>
              <a:rPr lang="en-GB" altLang="zh-CN" sz="1800" dirty="0" err="1"/>
              <a:t>github</a:t>
            </a:r>
            <a:r>
              <a:rPr lang="en-GB" altLang="zh-CN" sz="1800" dirty="0"/>
              <a:t> repo)</a:t>
            </a:r>
            <a:r>
              <a:rPr lang="zh-CN" altLang="en-US" sz="1800" dirty="0"/>
              <a:t>知识迭代，提出补丁方案</a:t>
            </a:r>
            <a:r>
              <a:rPr lang="en-GB" altLang="zh-CN" sz="1800" dirty="0"/>
              <a:t>/</a:t>
            </a:r>
            <a:r>
              <a:rPr lang="zh-CN" altLang="en-US" sz="1800" dirty="0"/>
              <a:t>内容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highlight>
                  <a:srgbClr val="F3F3F3"/>
                </a:highlight>
              </a:rPr>
              <a:t>6. Quality and Audit Department</a:t>
            </a:r>
            <a:endParaRPr lang="en-GB" sz="1800" b="1" dirty="0">
              <a:highlight>
                <a:srgbClr val="F3F3F3"/>
              </a:highlight>
            </a:endParaRP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zh-CN" altLang="en-US" sz="1800" dirty="0"/>
              <a:t>正式将教案</a:t>
            </a:r>
            <a:r>
              <a:rPr lang="en-US" altLang="zh-CN" sz="1800" dirty="0"/>
              <a:t>release</a:t>
            </a:r>
            <a:r>
              <a:rPr lang="zh-CN" altLang="en-US" sz="1800" dirty="0"/>
              <a:t>之前，检查</a:t>
            </a:r>
            <a:r>
              <a:rPr lang="en-GB" altLang="zh-CN" sz="1800" dirty="0"/>
              <a:t>curriculum product correctness, fairness, etc.</a:t>
            </a:r>
          </a:p>
          <a:p>
            <a:pPr marL="0" indent="0">
              <a:buNone/>
            </a:pPr>
            <a:r>
              <a:rPr lang="en-GB" altLang="zh-CN" sz="1800" dirty="0"/>
              <a:t>	</a:t>
            </a:r>
            <a:r>
              <a:rPr lang="zh-CN" altLang="en-US" sz="1800" dirty="0"/>
              <a:t>与</a:t>
            </a:r>
            <a:r>
              <a:rPr lang="en-GB" altLang="zh-CN" sz="1800" dirty="0"/>
              <a:t>Governance ‘</a:t>
            </a:r>
            <a:r>
              <a:rPr lang="zh-CN" altLang="en-US" sz="1800" dirty="0"/>
              <a:t>方针</a:t>
            </a:r>
            <a:r>
              <a:rPr lang="en-GB" altLang="zh-CN" sz="1800" dirty="0"/>
              <a:t>’</a:t>
            </a:r>
            <a:r>
              <a:rPr lang="zh-CN" altLang="en-US" sz="1800" dirty="0"/>
              <a:t>的</a:t>
            </a:r>
            <a:r>
              <a:rPr lang="en-GB" altLang="zh-CN" sz="1800" dirty="0"/>
              <a:t>alignment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highlight>
                  <a:srgbClr val="F9E7F7"/>
                </a:highlight>
              </a:rPr>
              <a:t>7. Student Advisory Department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zh-CN" altLang="en-US" sz="1800" dirty="0"/>
              <a:t>个人</a:t>
            </a:r>
            <a:r>
              <a:rPr lang="en-US" altLang="zh-CN" sz="1800" dirty="0"/>
              <a:t>advisor agent</a:t>
            </a:r>
            <a:r>
              <a:rPr lang="en-GB" altLang="zh-CN" sz="1800" dirty="0"/>
              <a:t>,</a:t>
            </a:r>
            <a:r>
              <a:rPr lang="zh-CN" altLang="en-US" sz="1800" dirty="0"/>
              <a:t> 长期记忆</a:t>
            </a:r>
            <a:r>
              <a:rPr lang="en-GB" altLang="zh-CN" sz="1800" dirty="0"/>
              <a:t>, </a:t>
            </a:r>
            <a:r>
              <a:rPr lang="zh-CN" altLang="en-US" sz="1800" dirty="0"/>
              <a:t>独立于其他</a:t>
            </a:r>
            <a:r>
              <a:rPr lang="en-US" altLang="zh-CN" sz="1800" dirty="0"/>
              <a:t>agent</a:t>
            </a:r>
            <a:r>
              <a:rPr lang="zh-CN" altLang="en-US" sz="1800" dirty="0"/>
              <a:t> </a:t>
            </a:r>
            <a:r>
              <a:rPr lang="en-GB" altLang="zh-CN" sz="1800" dirty="0"/>
              <a:t>(</a:t>
            </a:r>
            <a:r>
              <a:rPr lang="zh-CN" altLang="en-US" sz="1800" dirty="0"/>
              <a:t>遵守</a:t>
            </a:r>
            <a:r>
              <a:rPr lang="en-GB" altLang="zh-CN" sz="1800" dirty="0"/>
              <a:t>governance rules)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highlight>
                  <a:srgbClr val="EBFAFF"/>
                </a:highlight>
              </a:rPr>
              <a:t>8. Analytics and Adaptation Department</a:t>
            </a:r>
          </a:p>
          <a:p>
            <a:pPr marL="0" indent="0">
              <a:buNone/>
            </a:pPr>
            <a:r>
              <a:rPr lang="en-GB" sz="1800" dirty="0"/>
              <a:t>	</a:t>
            </a:r>
            <a:r>
              <a:rPr lang="zh-CN" altLang="en-US" sz="1800" dirty="0"/>
              <a:t>将</a:t>
            </a:r>
            <a:r>
              <a:rPr lang="en-GB" altLang="zh-CN" sz="1800" dirty="0"/>
              <a:t>‘</a:t>
            </a:r>
            <a:r>
              <a:rPr lang="zh-CN" altLang="en-US" sz="1800" dirty="0"/>
              <a:t>信号</a:t>
            </a:r>
            <a:r>
              <a:rPr lang="en-GB" altLang="zh-CN" sz="1800" dirty="0"/>
              <a:t>’ (e.g. click, errors etc.)</a:t>
            </a:r>
            <a:r>
              <a:rPr lang="zh-CN" altLang="en-US" sz="1800" dirty="0"/>
              <a:t>转化为实质性的建议</a:t>
            </a:r>
            <a:r>
              <a:rPr lang="en-GB" altLang="zh-CN" sz="1800" dirty="0"/>
              <a:t>(more numerical examples…)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42323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EDF15D-79EA-134B-D728-D9C6C8EF1AD6}"/>
              </a:ext>
            </a:extLst>
          </p:cNvPr>
          <p:cNvSpPr/>
          <p:nvPr/>
        </p:nvSpPr>
        <p:spPr>
          <a:xfrm>
            <a:off x="0" y="0"/>
            <a:ext cx="12192000" cy="55060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865C9-C9EE-FD7A-0CD0-1D3B8CCB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035" y="0"/>
            <a:ext cx="4574868" cy="550606"/>
          </a:xfrm>
        </p:spPr>
        <p:txBody>
          <a:bodyPr>
            <a:normAutofit/>
          </a:bodyPr>
          <a:lstStyle/>
          <a:p>
            <a:r>
              <a:rPr lang="en-US" sz="2400" b="1" dirty="0"/>
              <a:t>End-to-End Operational Workflow</a:t>
            </a:r>
            <a:endParaRPr lang="en-GB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BA2069-EDBA-A9E0-F67A-0A99333B5C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040" y="998078"/>
            <a:ext cx="10408920" cy="486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1. Intake.  </a:t>
            </a:r>
            <a:r>
              <a:rPr lang="zh-CN" altLang="en-US" sz="1600" dirty="0">
                <a:highlight>
                  <a:srgbClr val="F9E7F7"/>
                </a:highlight>
              </a:rPr>
              <a:t>需要人为强监管</a:t>
            </a:r>
            <a:r>
              <a:rPr lang="en-US" sz="1600" dirty="0">
                <a:highlight>
                  <a:srgbClr val="F9E7F7"/>
                </a:highlight>
              </a:rPr>
              <a:t> </a:t>
            </a:r>
          </a:p>
          <a:p>
            <a:pPr marL="0" indent="0">
              <a:buNone/>
            </a:pPr>
            <a:r>
              <a:rPr lang="zh-CN" altLang="en-US" sz="1600" dirty="0"/>
              <a:t>大纲，</a:t>
            </a:r>
            <a:r>
              <a:rPr lang="en-GB" altLang="zh-CN" sz="1600" dirty="0"/>
              <a:t>learning outcome</a:t>
            </a:r>
            <a:r>
              <a:rPr lang="zh-CN" altLang="en-US" sz="1600" dirty="0"/>
              <a:t>， 教学结构</a:t>
            </a:r>
            <a:r>
              <a:rPr lang="en-GB" altLang="zh-CN" sz="1600" dirty="0"/>
              <a:t>(</a:t>
            </a:r>
            <a:r>
              <a:rPr lang="zh-CN" altLang="en-US" sz="1600" dirty="0"/>
              <a:t>周</a:t>
            </a:r>
            <a:r>
              <a:rPr lang="en-GB" altLang="zh-CN" sz="1600" dirty="0"/>
              <a:t>)</a:t>
            </a:r>
            <a:r>
              <a:rPr lang="zh-CN" altLang="en-US" sz="1600" dirty="0"/>
              <a:t>，如何测验，学术铁律，</a:t>
            </a:r>
            <a:r>
              <a:rPr lang="en-US" altLang="zh-CN" sz="1600" dirty="0"/>
              <a:t>etc.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2. Governance initialization</a:t>
            </a:r>
            <a:endParaRPr lang="en-GB" sz="1600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zh-CN" altLang="en-US" sz="1600" dirty="0"/>
              <a:t>根据</a:t>
            </a:r>
            <a:r>
              <a:rPr lang="en-US" altLang="zh-CN" sz="1600" dirty="0"/>
              <a:t>intake</a:t>
            </a:r>
            <a:r>
              <a:rPr lang="zh-CN" altLang="en-US" sz="1600" dirty="0"/>
              <a:t>建立详细教学计划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3. Knowledge preparation. </a:t>
            </a:r>
            <a:endParaRPr lang="en-GB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zh-CN" altLang="en-US" sz="1600" dirty="0"/>
              <a:t>建立初版的知识库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4. Curriculum production. </a:t>
            </a:r>
            <a:endParaRPr lang="en-GB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zh-CN" altLang="en-US" sz="1600" dirty="0"/>
              <a:t>生成课件</a:t>
            </a:r>
            <a:r>
              <a:rPr lang="en-GB" altLang="zh-CN" sz="1600" dirty="0"/>
              <a:t>(</a:t>
            </a:r>
            <a:r>
              <a:rPr lang="en-US" altLang="zh-CN" sz="1600" dirty="0" err="1"/>
              <a:t>pptx,practical</a:t>
            </a:r>
            <a:r>
              <a:rPr lang="en-US" altLang="zh-CN" sz="1600" dirty="0"/>
              <a:t> code, pdf, </a:t>
            </a:r>
            <a:r>
              <a:rPr lang="en-US" altLang="zh-CN" sz="1600" dirty="0" err="1"/>
              <a:t>etc</a:t>
            </a:r>
            <a:r>
              <a:rPr lang="en-GB" altLang="zh-CN" sz="1600" dirty="0"/>
              <a:t>)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5. Quality and alignment audit.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9E7F7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Arial" panose="020B0604020202020204" pitchFamily="34" charset="0"/>
              </a:rPr>
              <a:t>检查课件，确保不偏离大纲，不违反规则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D9FCC-4146-6A5D-3163-A30BDB907E43}"/>
              </a:ext>
            </a:extLst>
          </p:cNvPr>
          <p:cNvSpPr txBox="1"/>
          <p:nvPr/>
        </p:nvSpPr>
        <p:spPr>
          <a:xfrm>
            <a:off x="5524500" y="1841242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6. Human approval gate.</a:t>
            </a:r>
            <a:endParaRPr lang="en-GB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zh-CN" altLang="en-US" sz="1600" dirty="0"/>
              <a:t>人需要核对</a:t>
            </a:r>
            <a:r>
              <a:rPr lang="en-GB" altLang="zh-CN" sz="1600" dirty="0"/>
              <a:t>high </a:t>
            </a:r>
            <a:r>
              <a:rPr lang="en-GB" altLang="zh-CN" sz="1600" dirty="0" err="1"/>
              <a:t>i</a:t>
            </a:r>
            <a:r>
              <a:rPr lang="en-US" altLang="zh-CN" sz="1600" dirty="0"/>
              <a:t>m</a:t>
            </a:r>
            <a:r>
              <a:rPr lang="en-GB" altLang="zh-CN" sz="1600" dirty="0" err="1"/>
              <a:t>pac</a:t>
            </a:r>
            <a:r>
              <a:rPr lang="en-US" altLang="zh-CN" sz="1600" dirty="0"/>
              <a:t>t</a:t>
            </a:r>
            <a:r>
              <a:rPr lang="en-GB" altLang="zh-CN" sz="1600" dirty="0"/>
              <a:t> outputs</a:t>
            </a:r>
            <a:r>
              <a:rPr lang="zh-CN" altLang="en-US" sz="1600" dirty="0"/>
              <a:t>例如</a:t>
            </a:r>
            <a:r>
              <a:rPr lang="en-GB" altLang="zh-CN" sz="1600" dirty="0" err="1"/>
              <a:t>cours</a:t>
            </a:r>
            <a:r>
              <a:rPr lang="en-US" altLang="zh-CN" sz="1600" dirty="0"/>
              <a:t>e</a:t>
            </a:r>
            <a:r>
              <a:rPr lang="en-GB" altLang="zh-CN" sz="1600" dirty="0"/>
              <a:t>work</a:t>
            </a:r>
            <a:r>
              <a:rPr lang="zh-CN" altLang="en-US" sz="1600" dirty="0"/>
              <a:t>设计</a:t>
            </a:r>
            <a:endParaRPr lang="en-GB" altLang="zh-CN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7. Student delivery. </a:t>
            </a:r>
            <a:endParaRPr lang="en-GB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zh-CN" altLang="en-US" sz="1600" dirty="0"/>
              <a:t>在学习，</a:t>
            </a:r>
            <a:r>
              <a:rPr lang="en-GB" altLang="zh-CN" sz="1600" dirty="0"/>
              <a:t>practice</a:t>
            </a:r>
            <a:r>
              <a:rPr lang="zh-CN" altLang="en-US" sz="1600" dirty="0"/>
              <a:t>和</a:t>
            </a:r>
            <a:r>
              <a:rPr lang="en-GB" altLang="zh-CN" sz="1600" dirty="0"/>
              <a:t>individual tutor</a:t>
            </a:r>
            <a:r>
              <a:rPr lang="zh-CN" altLang="en-US" sz="1600" dirty="0"/>
              <a:t>互动的过程中提供宝贵数据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8. Signal collection. </a:t>
            </a:r>
            <a:endParaRPr lang="en-GB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en-US" sz="1600" dirty="0"/>
              <a:t>Analytics layer</a:t>
            </a:r>
            <a:r>
              <a:rPr lang="zh-CN" altLang="en-US" sz="1600" dirty="0"/>
              <a:t>收集分析学生的表现，给出改动建议</a:t>
            </a:r>
            <a:r>
              <a:rPr lang="en-GB" altLang="zh-CN" sz="1600" dirty="0"/>
              <a:t>(</a:t>
            </a:r>
            <a:r>
              <a:rPr lang="zh-CN" altLang="en-US" sz="1600" dirty="0"/>
              <a:t>知识库</a:t>
            </a:r>
            <a:r>
              <a:rPr lang="en-GB" altLang="zh-CN" sz="1600" dirty="0"/>
              <a:t>&amp;content creator)</a:t>
            </a:r>
            <a:endParaRPr lang="en-US" sz="1600" dirty="0"/>
          </a:p>
          <a:p>
            <a:pPr marL="0" indent="0">
              <a:buNone/>
            </a:pPr>
            <a:endParaRPr lang="en-US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9. Adaptation. </a:t>
            </a:r>
            <a:endParaRPr lang="en-GB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en-US" altLang="zh-CN" sz="1600" dirty="0"/>
              <a:t>Individual tutor</a:t>
            </a:r>
            <a:r>
              <a:rPr lang="zh-CN" altLang="en-US" sz="1600" dirty="0"/>
              <a:t>做个性化推荐，根据‘改动建议’优化教案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10. Knowledge evolution. </a:t>
            </a:r>
            <a:endParaRPr lang="en-GB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zh-CN" altLang="en-US" sz="1600" dirty="0"/>
              <a:t>知识库的增删改查</a:t>
            </a:r>
            <a:endParaRPr lang="en-US" sz="1600" dirty="0"/>
          </a:p>
          <a:p>
            <a:pPr marL="0" indent="0">
              <a:buNone/>
            </a:pPr>
            <a:endParaRPr lang="en-US" sz="1600" b="1" dirty="0">
              <a:highlight>
                <a:srgbClr val="F9E7F7"/>
              </a:highlight>
            </a:endParaRPr>
          </a:p>
          <a:p>
            <a:pPr marL="0" indent="0">
              <a:buNone/>
            </a:pPr>
            <a:r>
              <a:rPr lang="en-US" sz="1600" b="1" dirty="0">
                <a:highlight>
                  <a:srgbClr val="F9E7F7"/>
                </a:highlight>
              </a:rPr>
              <a:t>11. Regeneration.</a:t>
            </a:r>
          </a:p>
          <a:p>
            <a:pPr marL="0" indent="0">
              <a:buNone/>
            </a:pPr>
            <a:r>
              <a:rPr lang="zh-CN" altLang="en-US" sz="1600" dirty="0"/>
              <a:t>进行有必要的</a:t>
            </a:r>
            <a:r>
              <a:rPr lang="en-GB" altLang="zh-CN" sz="1600" dirty="0"/>
              <a:t>outputs</a:t>
            </a:r>
            <a:r>
              <a:rPr lang="zh-CN" altLang="en-US" sz="1600" dirty="0"/>
              <a:t>改动</a:t>
            </a:r>
            <a:r>
              <a:rPr lang="en-GB" altLang="zh-CN" sz="1600" dirty="0"/>
              <a:t> (e.g. </a:t>
            </a:r>
            <a:r>
              <a:rPr lang="zh-CN" altLang="en-US" sz="1600" dirty="0"/>
              <a:t>调整后续教学风格，调整当前生成的</a:t>
            </a:r>
            <a:r>
              <a:rPr lang="en-GB" altLang="zh-CN" sz="1600" dirty="0"/>
              <a:t>coursework</a:t>
            </a:r>
            <a:r>
              <a:rPr lang="zh-CN" altLang="en-US" sz="1600" dirty="0"/>
              <a:t>设计</a:t>
            </a:r>
            <a:r>
              <a:rPr lang="en-GB" altLang="zh-CN" sz="1600" dirty="0"/>
              <a:t>,etc. )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4382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ircle: Hollow 36">
            <a:extLst>
              <a:ext uri="{FF2B5EF4-FFF2-40B4-BE49-F238E27FC236}">
                <a16:creationId xmlns:a16="http://schemas.microsoft.com/office/drawing/2014/main" id="{F92CC520-56DE-4E75-F0BD-9E3FF056B1E7}"/>
              </a:ext>
            </a:extLst>
          </p:cNvPr>
          <p:cNvSpPr/>
          <p:nvPr/>
        </p:nvSpPr>
        <p:spPr>
          <a:xfrm>
            <a:off x="2402757" y="1377961"/>
            <a:ext cx="7468829" cy="4551314"/>
          </a:xfrm>
          <a:prstGeom prst="donu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6A741-DE19-79F1-1B38-257A7FC8398B}"/>
              </a:ext>
            </a:extLst>
          </p:cNvPr>
          <p:cNvSpPr/>
          <p:nvPr/>
        </p:nvSpPr>
        <p:spPr>
          <a:xfrm>
            <a:off x="0" y="0"/>
            <a:ext cx="12192000" cy="62926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7CAF8-FF8C-4593-020E-D87D607F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89156"/>
            <a:ext cx="6909619" cy="450951"/>
          </a:xfrm>
        </p:spPr>
        <p:txBody>
          <a:bodyPr>
            <a:noAutofit/>
          </a:bodyPr>
          <a:lstStyle/>
          <a:p>
            <a:r>
              <a:rPr lang="en-GB" sz="3200" dirty="0"/>
              <a:t>How the System Actually Self-Improves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26F8B-A9D2-7350-73BC-535132AFC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1" y="987859"/>
            <a:ext cx="10515600" cy="49670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E50ECD-8FB7-6E8F-9964-E43C7730CE15}"/>
              </a:ext>
            </a:extLst>
          </p:cNvPr>
          <p:cNvSpPr txBox="1"/>
          <p:nvPr/>
        </p:nvSpPr>
        <p:spPr>
          <a:xfrm>
            <a:off x="317091" y="6274369"/>
            <a:ext cx="6282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b="1" dirty="0"/>
              <a:t>Learner evidence is converted into operational decisions.</a:t>
            </a:r>
            <a:endParaRPr lang="en-GB" sz="1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51BC80-7AAD-FB22-D3CF-0832FF9A8E4A}"/>
              </a:ext>
            </a:extLst>
          </p:cNvPr>
          <p:cNvGrpSpPr/>
          <p:nvPr/>
        </p:nvGrpSpPr>
        <p:grpSpPr>
          <a:xfrm>
            <a:off x="777978" y="2343298"/>
            <a:ext cx="3237272" cy="1361520"/>
            <a:chOff x="787809" y="2297896"/>
            <a:chExt cx="3605981" cy="136152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CBC6C56-BD24-63B8-16A8-0A13D30E6F12}"/>
                </a:ext>
              </a:extLst>
            </p:cNvPr>
            <p:cNvSpPr/>
            <p:nvPr/>
          </p:nvSpPr>
          <p:spPr>
            <a:xfrm>
              <a:off x="787809" y="2297896"/>
              <a:ext cx="3605981" cy="1361520"/>
            </a:xfrm>
            <a:prstGeom prst="round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5B6889-A607-8A81-1D7A-66034AEE7AD0}"/>
                </a:ext>
              </a:extLst>
            </p:cNvPr>
            <p:cNvSpPr txBox="1"/>
            <p:nvPr/>
          </p:nvSpPr>
          <p:spPr>
            <a:xfrm>
              <a:off x="919316" y="2378492"/>
              <a:ext cx="3342968" cy="11079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GB" sz="1800" b="1" dirty="0">
                  <a:solidFill>
                    <a:srgbClr val="0070C0"/>
                  </a:solidFill>
                </a:rPr>
                <a:t>Feedback ingestion</a:t>
              </a:r>
            </a:p>
            <a:p>
              <a:r>
                <a:rPr lang="en-GB" sz="1600" dirty="0"/>
                <a:t>Student traces, quiz results, </a:t>
              </a:r>
            </a:p>
            <a:p>
              <a:r>
                <a:rPr lang="en-GB" sz="1600" dirty="0"/>
                <a:t>advisor summaries, interaction events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6F32C3-33BE-6A12-4704-DEE260F0553B}"/>
              </a:ext>
            </a:extLst>
          </p:cNvPr>
          <p:cNvGrpSpPr/>
          <p:nvPr/>
        </p:nvGrpSpPr>
        <p:grpSpPr>
          <a:xfrm>
            <a:off x="5197507" y="1058504"/>
            <a:ext cx="2231922" cy="1396061"/>
            <a:chOff x="4854161" y="572227"/>
            <a:chExt cx="1946787" cy="120072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82FDF59-9869-A723-75BE-CD0C3F2A28A8}"/>
                </a:ext>
              </a:extLst>
            </p:cNvPr>
            <p:cNvGrpSpPr/>
            <p:nvPr/>
          </p:nvGrpSpPr>
          <p:grpSpPr>
            <a:xfrm>
              <a:off x="4854161" y="987859"/>
              <a:ext cx="1946787" cy="785093"/>
              <a:chOff x="4854161" y="987859"/>
              <a:chExt cx="1946787" cy="785093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AF03341-8B47-0442-4B66-4A6D6F08CF03}"/>
                  </a:ext>
                </a:extLst>
              </p:cNvPr>
              <p:cNvSpPr/>
              <p:nvPr/>
            </p:nvSpPr>
            <p:spPr>
              <a:xfrm>
                <a:off x="4862052" y="987859"/>
                <a:ext cx="1425677" cy="5290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E440A2-4499-AD9D-210C-EA9A9FA1BDF8}"/>
                  </a:ext>
                </a:extLst>
              </p:cNvPr>
              <p:cNvSpPr txBox="1"/>
              <p:nvPr/>
            </p:nvSpPr>
            <p:spPr>
              <a:xfrm>
                <a:off x="4854161" y="1455297"/>
                <a:ext cx="1946787" cy="317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b="1" dirty="0">
                    <a:solidFill>
                      <a:schemeClr val="bg1"/>
                    </a:solidFill>
                  </a:rPr>
                  <a:t>Student Behave</a:t>
                </a:r>
                <a:endParaRPr lang="en-GB" sz="1800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0" name="Graphic 19" descr="Person eating with solid fill">
              <a:extLst>
                <a:ext uri="{FF2B5EF4-FFF2-40B4-BE49-F238E27FC236}">
                  <a16:creationId xmlns:a16="http://schemas.microsoft.com/office/drawing/2014/main" id="{92D7ECAE-D301-3F6A-C1F3-5B7A1DAF1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82830" y="572227"/>
              <a:ext cx="914400" cy="9144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EC2704-DD96-9FAB-5657-AAFD0ADFC035}"/>
              </a:ext>
            </a:extLst>
          </p:cNvPr>
          <p:cNvGrpSpPr/>
          <p:nvPr/>
        </p:nvGrpSpPr>
        <p:grpSpPr>
          <a:xfrm>
            <a:off x="2687748" y="4379497"/>
            <a:ext cx="3237271" cy="1361520"/>
            <a:chOff x="787809" y="2297896"/>
            <a:chExt cx="3605981" cy="136152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188B637-E7D4-4273-4686-F4DA783A4F1A}"/>
                </a:ext>
              </a:extLst>
            </p:cNvPr>
            <p:cNvSpPr/>
            <p:nvPr/>
          </p:nvSpPr>
          <p:spPr>
            <a:xfrm>
              <a:off x="787809" y="2297896"/>
              <a:ext cx="3605981" cy="1361520"/>
            </a:xfrm>
            <a:prstGeom prst="round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298459-91C1-AC08-EB9F-C55515863E38}"/>
                </a:ext>
              </a:extLst>
            </p:cNvPr>
            <p:cNvSpPr txBox="1"/>
            <p:nvPr/>
          </p:nvSpPr>
          <p:spPr>
            <a:xfrm>
              <a:off x="919316" y="2378492"/>
              <a:ext cx="3342968" cy="110799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GB" b="1" dirty="0">
                  <a:solidFill>
                    <a:schemeClr val="accent2"/>
                  </a:solidFill>
                </a:rPr>
                <a:t>Analytics</a:t>
              </a:r>
            </a:p>
            <a:p>
              <a:r>
                <a:rPr lang="en-GB" sz="1600" dirty="0"/>
                <a:t>Detect weak topics, </a:t>
              </a:r>
            </a:p>
            <a:p>
              <a:r>
                <a:rPr lang="en-GB" sz="1600" dirty="0"/>
                <a:t>misconception clusters, </a:t>
              </a:r>
            </a:p>
            <a:p>
              <a:r>
                <a:rPr lang="en-GB" sz="1600" dirty="0"/>
                <a:t>pacing issues, failing </a:t>
              </a:r>
              <a:r>
                <a:rPr lang="en-GB" sz="1600" dirty="0" err="1"/>
                <a:t>practicals</a:t>
              </a:r>
              <a:endParaRPr lang="en-GB" sz="16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BB4F61-F59A-0526-6633-DFA7143E92C0}"/>
              </a:ext>
            </a:extLst>
          </p:cNvPr>
          <p:cNvGrpSpPr/>
          <p:nvPr/>
        </p:nvGrpSpPr>
        <p:grpSpPr>
          <a:xfrm>
            <a:off x="7226710" y="4072361"/>
            <a:ext cx="3605981" cy="1361520"/>
            <a:chOff x="787809" y="2297896"/>
            <a:chExt cx="3605981" cy="136152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CC55599-78CD-7F8C-B93A-2A22C0B01CE5}"/>
                </a:ext>
              </a:extLst>
            </p:cNvPr>
            <p:cNvSpPr/>
            <p:nvPr/>
          </p:nvSpPr>
          <p:spPr>
            <a:xfrm>
              <a:off x="787809" y="2297896"/>
              <a:ext cx="3605981" cy="1361520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1695B7-2EED-C044-B663-7FADEE2E06AF}"/>
                </a:ext>
              </a:extLst>
            </p:cNvPr>
            <p:cNvSpPr txBox="1"/>
            <p:nvPr/>
          </p:nvSpPr>
          <p:spPr>
            <a:xfrm>
              <a:off x="919316" y="2378492"/>
              <a:ext cx="3342968" cy="11079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GB" b="1" dirty="0">
                  <a:solidFill>
                    <a:schemeClr val="accent5">
                      <a:lumMod val="75000"/>
                    </a:schemeClr>
                  </a:solidFill>
                </a:rPr>
                <a:t>Adaptation</a:t>
              </a:r>
            </a:p>
            <a:p>
              <a:r>
                <a:rPr lang="en-GB" sz="1600" dirty="0"/>
                <a:t>Trigger remediation, extra practice, re-teaching proposals, </a:t>
              </a:r>
            </a:p>
            <a:p>
              <a:r>
                <a:rPr lang="en-GB" sz="1600" dirty="0"/>
                <a:t>content rewrite proposals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619A60-767D-33A6-26E1-DA4B9AECBF85}"/>
              </a:ext>
            </a:extLst>
          </p:cNvPr>
          <p:cNvGrpSpPr/>
          <p:nvPr/>
        </p:nvGrpSpPr>
        <p:grpSpPr>
          <a:xfrm>
            <a:off x="7547488" y="1835466"/>
            <a:ext cx="3605981" cy="1361520"/>
            <a:chOff x="787809" y="2297896"/>
            <a:chExt cx="3605981" cy="13615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728B639-1BE9-34FA-5A97-5876C1FB3714}"/>
                </a:ext>
              </a:extLst>
            </p:cNvPr>
            <p:cNvSpPr/>
            <p:nvPr/>
          </p:nvSpPr>
          <p:spPr>
            <a:xfrm>
              <a:off x="787809" y="2297896"/>
              <a:ext cx="3605981" cy="1361520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33F460-E382-01A0-A9F6-A2F02CFED570}"/>
                </a:ext>
              </a:extLst>
            </p:cNvPr>
            <p:cNvSpPr txBox="1"/>
            <p:nvPr/>
          </p:nvSpPr>
          <p:spPr>
            <a:xfrm>
              <a:off x="919316" y="2378492"/>
              <a:ext cx="3342968" cy="11079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GB" b="1" dirty="0">
                  <a:solidFill>
                    <a:schemeClr val="accent3"/>
                  </a:solidFill>
                </a:rPr>
                <a:t>Regeneration</a:t>
              </a:r>
            </a:p>
            <a:p>
              <a:r>
                <a:rPr lang="en-GB" sz="1600" dirty="0"/>
                <a:t>Approved changes update knowledge or regenerate targeted teaching asset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7662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501A608-E128-AE6F-A7D2-FFDE9767F15A}"/>
              </a:ext>
            </a:extLst>
          </p:cNvPr>
          <p:cNvSpPr/>
          <p:nvPr/>
        </p:nvSpPr>
        <p:spPr>
          <a:xfrm>
            <a:off x="0" y="1"/>
            <a:ext cx="12192000" cy="6096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F4DEAC-7838-D621-4F9D-D58EE718F375}"/>
              </a:ext>
            </a:extLst>
          </p:cNvPr>
          <p:cNvSpPr/>
          <p:nvPr/>
        </p:nvSpPr>
        <p:spPr>
          <a:xfrm>
            <a:off x="1096296" y="892734"/>
            <a:ext cx="4783394" cy="60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>
                <a:solidFill>
                  <a:schemeClr val="tx1"/>
                </a:solidFill>
              </a:rPr>
              <a:t>1. </a:t>
            </a:r>
            <a:r>
              <a:rPr lang="en-GB" sz="1200" b="1" dirty="0">
                <a:solidFill>
                  <a:schemeClr val="tx1"/>
                </a:solidFill>
              </a:rPr>
              <a:t>Agents do not directly change canonical knowledge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They can propose, but governance approves high-impact writes.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8034D-C384-AC8C-D94D-849B0F11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72171"/>
            <a:ext cx="5424948" cy="490281"/>
          </a:xfrm>
        </p:spPr>
        <p:txBody>
          <a:bodyPr>
            <a:normAutofit/>
          </a:bodyPr>
          <a:lstStyle/>
          <a:p>
            <a:r>
              <a:rPr lang="en-GB" sz="2400" b="1" dirty="0"/>
              <a:t>Governance and Permission Boundaries</a:t>
            </a:r>
            <a:endParaRPr lang="en-GB" sz="2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819CA57-526A-6B20-0E74-FF8C8299B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242039"/>
              </p:ext>
            </p:extLst>
          </p:nvPr>
        </p:nvGraphicFramePr>
        <p:xfrm>
          <a:off x="1230629" y="2728896"/>
          <a:ext cx="9409881" cy="368213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587717">
                  <a:extLst>
                    <a:ext uri="{9D8B030D-6E8A-4147-A177-3AD203B41FA5}">
                      <a16:colId xmlns:a16="http://schemas.microsoft.com/office/drawing/2014/main" val="1477296751"/>
                    </a:ext>
                  </a:extLst>
                </a:gridCol>
                <a:gridCol w="6822164">
                  <a:extLst>
                    <a:ext uri="{9D8B030D-6E8A-4147-A177-3AD203B41FA5}">
                      <a16:colId xmlns:a16="http://schemas.microsoft.com/office/drawing/2014/main" val="2976601393"/>
                    </a:ext>
                  </a:extLst>
                </a:gridCol>
              </a:tblGrid>
              <a:tr h="688801"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Level 0 - Read only: 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Can retrieve knowledge, logs, and reports but cannot write any state.</a:t>
                      </a:r>
                      <a:endParaRPr lang="en-GB" sz="1600" b="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814026"/>
                  </a:ext>
                </a:extLst>
              </a:tr>
              <a:tr h="932265"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Level 1 - Propose only: 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Can create update packets, revision requests, and flagged issues, but cannot mutate protected stores.</a:t>
                      </a:r>
                      <a:endParaRPr lang="en-GB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15865"/>
                  </a:ext>
                </a:extLst>
              </a:tr>
              <a:tr h="1101895"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Level 2 - Restricted write: 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Can update low-risk operational state such as job status, advisor notes, or temporary remediation plans.</a:t>
                      </a:r>
                      <a:endParaRPr lang="en-GB" sz="1600" dirty="0">
                        <a:effectLst/>
                      </a:endParaRP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446304"/>
                  </a:ext>
                </a:extLst>
              </a:tr>
              <a:tr h="959173"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Level 3 - Governance-approved write: 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Can update canonical knowledge, released curriculum assets, or official assessment rules only after an approval token is issued by governance.</a:t>
                      </a:r>
                      <a:endParaRPr lang="en-GB" sz="1600" dirty="0">
                        <a:effectLst/>
                      </a:endParaRPr>
                    </a:p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34279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172E80D-F34E-5036-479A-EC355E8B7BD5}"/>
              </a:ext>
            </a:extLst>
          </p:cNvPr>
          <p:cNvSpPr txBox="1"/>
          <p:nvPr/>
        </p:nvSpPr>
        <p:spPr>
          <a:xfrm>
            <a:off x="6489290" y="101329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GB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7AE9E7-A575-A40F-9711-70E011F65722}"/>
              </a:ext>
            </a:extLst>
          </p:cNvPr>
          <p:cNvSpPr/>
          <p:nvPr/>
        </p:nvSpPr>
        <p:spPr>
          <a:xfrm>
            <a:off x="5935570" y="1236629"/>
            <a:ext cx="4454013" cy="60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</a:rPr>
              <a:t>2. Released assessments remain protected</a:t>
            </a:r>
          </a:p>
          <a:p>
            <a:r>
              <a:rPr lang="en-GB" sz="1200" dirty="0">
                <a:solidFill>
                  <a:schemeClr val="tx1"/>
                </a:solidFill>
              </a:rPr>
              <a:t>Official coursework and grading rules require human review.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CD02F3-18E6-B0F7-B5D3-CDEF810655B2}"/>
              </a:ext>
            </a:extLst>
          </p:cNvPr>
          <p:cNvSpPr/>
          <p:nvPr/>
        </p:nvSpPr>
        <p:spPr>
          <a:xfrm>
            <a:off x="1096296" y="1604201"/>
            <a:ext cx="4783394" cy="60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200" dirty="0">
              <a:solidFill>
                <a:schemeClr val="tx1"/>
              </a:solidFill>
            </a:endParaRPr>
          </a:p>
          <a:p>
            <a:r>
              <a:rPr lang="en-GB" sz="1200" b="1" dirty="0">
                <a:solidFill>
                  <a:schemeClr val="tx1"/>
                </a:solidFill>
              </a:rPr>
              <a:t>3. </a:t>
            </a:r>
            <a:r>
              <a:rPr lang="en-US" altLang="zh-CN" sz="1200" b="1" dirty="0">
                <a:solidFill>
                  <a:schemeClr val="tx1"/>
                </a:solidFill>
              </a:rPr>
              <a:t>S</a:t>
            </a:r>
            <a:r>
              <a:rPr lang="en-GB" sz="1200" b="1" dirty="0" err="1">
                <a:solidFill>
                  <a:schemeClr val="tx1"/>
                </a:solidFill>
              </a:rPr>
              <a:t>eparate</a:t>
            </a:r>
            <a:r>
              <a:rPr lang="en-GB" sz="1200" b="1" dirty="0">
                <a:solidFill>
                  <a:schemeClr val="tx1"/>
                </a:solidFill>
              </a:rPr>
              <a:t> personal info from course-level knowledge</a:t>
            </a:r>
          </a:p>
          <a:p>
            <a:r>
              <a:rPr lang="en-GB" sz="1200" dirty="0">
                <a:solidFill>
                  <a:schemeClr val="tx1"/>
                </a:solidFill>
              </a:rPr>
              <a:t>Only aggregated cohort signals can influence module-level revision.</a:t>
            </a:r>
          </a:p>
          <a:p>
            <a:endParaRPr lang="en-GB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15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23444D-B999-4A0D-4418-B4993C005A82}"/>
              </a:ext>
            </a:extLst>
          </p:cNvPr>
          <p:cNvSpPr/>
          <p:nvPr/>
        </p:nvSpPr>
        <p:spPr>
          <a:xfrm>
            <a:off x="0" y="1"/>
            <a:ext cx="12192000" cy="5501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173F8-5FDF-0137-2602-3B0D92800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2" y="1"/>
            <a:ext cx="5257800" cy="550146"/>
          </a:xfrm>
        </p:spPr>
        <p:txBody>
          <a:bodyPr>
            <a:normAutofit/>
          </a:bodyPr>
          <a:lstStyle/>
          <a:p>
            <a:r>
              <a:rPr lang="en-GB" sz="2400" b="1" dirty="0"/>
              <a:t>Technical Runtime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77E87-CA57-A115-8F43-DC23B44D0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2" y="1098037"/>
            <a:ext cx="10515600" cy="5951691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zh-CN" altLang="en-US" sz="2000" dirty="0"/>
            </a:br>
            <a:endParaRPr lang="en-GB" sz="2000" dirty="0"/>
          </a:p>
        </p:txBody>
      </p:sp>
      <p:sp>
        <p:nvSpPr>
          <p:cNvPr id="5" name="AutoShape 2" descr="教育平台架构流程图">
            <a:extLst>
              <a:ext uri="{FF2B5EF4-FFF2-40B4-BE49-F238E27FC236}">
                <a16:creationId xmlns:a16="http://schemas.microsoft.com/office/drawing/2014/main" id="{3D801087-B75A-CCBD-FCE8-FB939B6C08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57E8AD-2466-F919-BA4D-A68B32C8E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31" y="821779"/>
            <a:ext cx="10426538" cy="551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66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64C5A5-E585-A1BB-FC2A-2CF380ABB530}"/>
              </a:ext>
            </a:extLst>
          </p:cNvPr>
          <p:cNvSpPr/>
          <p:nvPr/>
        </p:nvSpPr>
        <p:spPr>
          <a:xfrm>
            <a:off x="0" y="0"/>
            <a:ext cx="12192000" cy="55060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9A9FD-36DA-A793-9919-336C66C6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80" y="40660"/>
            <a:ext cx="2652252" cy="509946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MVP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084F1-F5C6-CF77-19B8-A7C023FF8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1662522"/>
            <a:ext cx="4805516" cy="3532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First rollout scope</a:t>
            </a:r>
          </a:p>
          <a:p>
            <a:pPr lvl="1"/>
            <a:r>
              <a:rPr lang="en-GB" sz="2000" dirty="0"/>
              <a:t>One AI module </a:t>
            </a:r>
          </a:p>
          <a:p>
            <a:pPr lvl="1"/>
            <a:r>
              <a:rPr lang="en-GB" sz="2000" dirty="0"/>
              <a:t>One academic term </a:t>
            </a:r>
          </a:p>
          <a:p>
            <a:pPr lvl="1"/>
            <a:r>
              <a:rPr lang="en-GB" sz="2000" dirty="0"/>
              <a:t>Syllabus ingestion </a:t>
            </a:r>
          </a:p>
          <a:p>
            <a:pPr lvl="1"/>
            <a:r>
              <a:rPr lang="en-GB" sz="2000" dirty="0"/>
              <a:t>Lecture and practical generation </a:t>
            </a:r>
          </a:p>
          <a:p>
            <a:pPr lvl="1"/>
            <a:r>
              <a:rPr lang="en-GB" sz="2000" dirty="0"/>
              <a:t>Rubric generation </a:t>
            </a:r>
          </a:p>
          <a:p>
            <a:pPr lvl="1"/>
            <a:r>
              <a:rPr lang="en-GB" sz="2000" dirty="0"/>
              <a:t>Student advisor support </a:t>
            </a:r>
          </a:p>
          <a:p>
            <a:pPr lvl="1"/>
            <a:r>
              <a:rPr lang="en-GB" sz="2000" dirty="0"/>
              <a:t>Analytics dashboards </a:t>
            </a:r>
          </a:p>
          <a:p>
            <a:pPr lvl="1"/>
            <a:r>
              <a:rPr lang="en-GB" sz="2000" dirty="0"/>
              <a:t>Governance approvals 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EB1CA-79B5-E4DF-0BDB-098631B2E56B}"/>
              </a:ext>
            </a:extLst>
          </p:cNvPr>
          <p:cNvSpPr txBox="1"/>
          <p:nvPr/>
        </p:nvSpPr>
        <p:spPr>
          <a:xfrm>
            <a:off x="474406" y="6754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b="1" dirty="0"/>
              <a:t>Start narrow, prove trust, then scale across modules.</a:t>
            </a:r>
            <a:endParaRPr lang="en-GB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73309-DFDB-4913-B870-3FF889E6084F}"/>
              </a:ext>
            </a:extLst>
          </p:cNvPr>
          <p:cNvSpPr txBox="1"/>
          <p:nvPr/>
        </p:nvSpPr>
        <p:spPr>
          <a:xfrm>
            <a:off x="5555226" y="1662522"/>
            <a:ext cx="6096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Still human-supervised at first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Official coursework release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Fully automated marking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High-risk canonical knowledge updates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FB756D-8D75-86EE-53D8-93999152D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071" y="4179273"/>
            <a:ext cx="1687835" cy="1016205"/>
          </a:xfrm>
          <a:prstGeom prst="rect">
            <a:avLst/>
          </a:prstGeom>
        </p:spPr>
      </p:pic>
      <p:pic>
        <p:nvPicPr>
          <p:cNvPr id="7170" name="Picture 2" descr="Khan Academy full logo transparent PNG - StickPNG">
            <a:extLst>
              <a:ext uri="{FF2B5EF4-FFF2-40B4-BE49-F238E27FC236}">
                <a16:creationId xmlns:a16="http://schemas.microsoft.com/office/drawing/2014/main" id="{D05F7BCB-64B4-DCF5-51CA-8EB7996E4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747" y="4461541"/>
            <a:ext cx="1292663" cy="129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0B69DC-3F7F-0EE8-A9B5-D8E85D787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006" y="5379332"/>
            <a:ext cx="1966130" cy="4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5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C6B41B-187A-EE9C-6D0E-86F3EF9CB604}"/>
              </a:ext>
            </a:extLst>
          </p:cNvPr>
          <p:cNvSpPr/>
          <p:nvPr/>
        </p:nvSpPr>
        <p:spPr>
          <a:xfrm>
            <a:off x="0" y="1"/>
            <a:ext cx="12192000" cy="5501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F91A40-D7BC-87C2-029F-93DC5554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2" y="1"/>
            <a:ext cx="6526161" cy="550146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核心难点：知识库的搭建</a:t>
            </a:r>
            <a:r>
              <a:rPr lang="en-GB" altLang="zh-CN" sz="2400" b="1" dirty="0"/>
              <a:t>&amp;</a:t>
            </a:r>
            <a:r>
              <a:rPr lang="zh-CN" altLang="en-US" sz="2400" b="1" dirty="0"/>
              <a:t>维护</a:t>
            </a:r>
            <a:endParaRPr lang="en-GB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62FC84-5085-F44B-CF38-86C575F4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78" y="550147"/>
            <a:ext cx="9535343" cy="618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89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3097</TotalTime>
  <Words>1283</Words>
  <Application>Microsoft Office PowerPoint</Application>
  <PresentationFormat>Widescreen</PresentationFormat>
  <Paragraphs>248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Human-governed multi-agent educational operating system for scalable AI teaching</vt:lpstr>
      <vt:lpstr>当前教育生态痛点</vt:lpstr>
      <vt:lpstr>The Vision: 搭建Agent主导的self-evolving教育生态</vt:lpstr>
      <vt:lpstr>PowerPoint Presentation</vt:lpstr>
      <vt:lpstr>PowerPoint Presentation</vt:lpstr>
      <vt:lpstr>PowerPoint Presentation</vt:lpstr>
      <vt:lpstr>Departments &amp; Responsibilities</vt:lpstr>
      <vt:lpstr>End-to-End Operational Workflow</vt:lpstr>
      <vt:lpstr>How the System Actually Self-Improves</vt:lpstr>
      <vt:lpstr>Governance and Permission Boundaries</vt:lpstr>
      <vt:lpstr>Technical Runtime and Deployment</vt:lpstr>
      <vt:lpstr>MVP scope</vt:lpstr>
      <vt:lpstr>核心难点：知识库的搭建&amp;维护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PANG, CARLOS S. (Student)</dc:creator>
  <cp:lastModifiedBy>PANG, CARLOS S. (Student)</cp:lastModifiedBy>
  <cp:revision>72</cp:revision>
  <dcterms:created xsi:type="dcterms:W3CDTF">2026-04-06T08:28:59Z</dcterms:created>
  <dcterms:modified xsi:type="dcterms:W3CDTF">2026-04-14T23:17:55Z</dcterms:modified>
</cp:coreProperties>
</file>